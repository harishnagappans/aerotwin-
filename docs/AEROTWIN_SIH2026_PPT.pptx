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AEROTWIN</a:t>
            </a:r>
          </a:p>
          <a:p>
            <a:pPr algn="ctr">
              <a:spcBef>
                <a:spcPts val="800"/>
              </a:spcBef>
              <a:defRPr sz="1600">
                <a:solidFill>
                  <a:srgbClr val="BBDEFB"/>
                </a:solidFill>
              </a:defRPr>
            </a:pPr>
            <a:r>
              <a:t>AI-Enabled Real-Time Digital Twin System for Health Monitoring,</a:t>
            </a:r>
            <a:br/>
            <a:r>
              <a:t>Fault Prediction &amp; Mission Reliability Enhancement of Aero Piston Engines in MALE UAVs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100">
                <a:solidFill>
                  <a:srgbClr val="555555"/>
                </a:solidFill>
              </a:defRPr>
            </a:pPr>
            <a:r>
              <a:t>SIH Problem Statement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0D47A1"/>
                </a:solidFill>
              </a:defRPr>
            </a:pPr>
            <a:r>
              <a:t>SIH26054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2858" y="292608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100">
                <a:solidFill>
                  <a:srgbClr val="555555"/>
                </a:solidFill>
              </a:defRPr>
            </a:pPr>
            <a:r>
              <a:t>Team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0D47A1"/>
                </a:solidFill>
              </a:defRPr>
            </a:pPr>
            <a:r>
              <a:t>HYDROVEX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8516" y="292608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100">
                <a:solidFill>
                  <a:srgbClr val="555555"/>
                </a:solidFill>
              </a:defRPr>
            </a:pPr>
            <a:r>
              <a:t>Category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0D47A1"/>
                </a:solidFill>
              </a:defRPr>
            </a:pPr>
            <a:r>
              <a:t>Defense Avionics &amp;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74175" y="292608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100">
                <a:solidFill>
                  <a:srgbClr val="555555"/>
                </a:solidFill>
              </a:defRPr>
            </a:pPr>
            <a:r>
              <a:t>Target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0D47A1"/>
                </a:solidFill>
              </a:defRPr>
            </a:pPr>
            <a:r>
              <a:t>MALE UAV Piston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47A1"/>
                </a:solidFill>
              </a:defRPr>
            </a:pPr>
            <a:r>
              <a:t>CORE TECHNOLOGICAL PILLARS</a:t>
            </a:r>
          </a:p>
          <a:p>
            <a:pPr algn="ctr">
              <a:spcBef>
                <a:spcPts val="200"/>
              </a:spcBef>
              <a:defRPr sz="1200">
                <a:solidFill>
                  <a:srgbClr val="555555"/>
                </a:solidFill>
              </a:defRPr>
            </a:pPr>
            <a:r>
              <a:t>▸ Physics-Informed Digital Twin</a:t>
            </a:r>
          </a:p>
          <a:p>
            <a:pPr algn="ctr">
              <a:spcBef>
                <a:spcPts val="200"/>
              </a:spcBef>
              <a:defRPr sz="1200">
                <a:solidFill>
                  <a:srgbClr val="555555"/>
                </a:solidFill>
              </a:defRPr>
            </a:pPr>
            <a:r>
              <a:t>▸ CAN 2.0B Avionics Bus Transport</a:t>
            </a:r>
          </a:p>
          <a:p>
            <a:pPr algn="ctr">
              <a:spcBef>
                <a:spcPts val="200"/>
              </a:spcBef>
              <a:defRPr sz="1200">
                <a:solidFill>
                  <a:srgbClr val="555555"/>
                </a:solidFill>
              </a:defRPr>
            </a:pPr>
            <a:r>
              <a:t>▸ Dual-Stage AI (Isolation Forest + Random Forest)</a:t>
            </a:r>
          </a:p>
          <a:p>
            <a:pPr algn="ctr">
              <a:spcBef>
                <a:spcPts val="200"/>
              </a:spcBef>
              <a:defRPr sz="1200">
                <a:solidFill>
                  <a:srgbClr val="555555"/>
                </a:solidFill>
              </a:defRPr>
            </a:pPr>
            <a:r>
              <a:t>▸ RUL Forecasting &amp; Explainable AI</a:t>
            </a:r>
          </a:p>
          <a:p>
            <a:pPr algn="ctr">
              <a:spcBef>
                <a:spcPts val="200"/>
              </a:spcBef>
              <a:defRPr sz="1200">
                <a:solidFill>
                  <a:srgbClr val="555555"/>
                </a:solidFill>
              </a:defRPr>
            </a:pPr>
            <a:r>
              <a:t>▸ Aerospace GCS Command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 — Team HYDROVEX</a:t>
            </a:r>
          </a:p>
        </p:txBody>
      </p:sp>
      <p:sp>
        <p:nvSpPr>
          <p:cNvPr id="10" name="Oval 9"/>
          <p:cNvSpPr/>
          <p:nvPr/>
        </p:nvSpPr>
        <p:spPr>
          <a:xfrm>
            <a:off x="11551615" y="647395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73E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0D47A1"/>
                </a:solidFill>
              </a:defRPr>
            </a:pPr>
            <a:r>
              <a:t>HYDROVEX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80015" y="137160"/>
            <a:ext cx="1828800" cy="685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SMART INDIA
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"/>
            <a:ext cx="8716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729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 b="1">
                <a:solidFill>
                  <a:srgbClr val="1A1A1A"/>
                </a:solidFill>
              </a:defRPr>
            </a:pPr>
            <a:r>
              <a:t>What is AEROTWIN?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A real-time Digital Twin platform that creates a virtual replica of aero piston engines onboard a Ground Control Station (GCS).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5-Layer Architecture: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Layer 1 — Physics Digital Twin: Reduced-order thermodynamic model (Rotax 912) simulates 13 engine parameters as a healthy baseline.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Layer 2 — Residual z-Score Engine: Computes deviation between actual vs. predicted; normalizes using calibration stats to eliminate environmental false alarms.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Layer 3 — Dual AI Pipeline: Isolation Forest (unsupervised anomaly detection, 0.0 false alarms/hr) + Random Forest (10-class fault classifier, 99.84% accuracy).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Layer 4 — RUL Forecasting: Trailing OLS regression projects remaining engine life with &lt; 1 min mean error, up to 20 min advance warning.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Layer 5 — Explainable AI: Per-channel z-score attribution explains WHY the AI raised each alert.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8872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Conventional GCS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AEROTWIN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Detection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Static threshold limits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Physics z-score residuals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False 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High during alt/temp shifts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0.0 false alarms/hr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Fault Detection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Post-failure (Reactive)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100% pre-failure (Proactive)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RUL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OLS regression, &lt; 1 min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Generic warning lamp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Per-channel XAI attribution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749039"/>
            <a:ext cx="5669280" cy="24688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0D47A1"/>
                </a:solidFill>
              </a:defRPr>
            </a:pPr>
            <a:r>
              <a:t>Innovation &amp; Uniqueness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0D47A1"/>
                </a:solidFill>
              </a:defRPr>
            </a:pPr>
            <a:r>
              <a:t>• Physics-AI Hybrid — uses physics residuals as AI input, not raw sensor data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0D47A1"/>
                </a:solidFill>
              </a:defRPr>
            </a:pPr>
            <a:r>
              <a:t>• CAN 2.0B transport — hardware-ready for real UAV avionics buses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0D47A1"/>
                </a:solidFill>
              </a:defRPr>
            </a:pPr>
            <a:r>
              <a:t>• Virtual ECU/FADEC emulation with DTC codes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0D47A1"/>
                </a:solidFill>
              </a:defRPr>
            </a:pPr>
            <a:r>
              <a:t>• Multi-environment validated (5 flight profiles, F1 = 0.95)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0D47A1"/>
                </a:solidFill>
              </a:defRPr>
            </a:pPr>
            <a:r>
              <a:t>• Zero data leakage — strict mission-seed train/test splits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 — Team HYDROVEX</a:t>
            </a:r>
          </a:p>
        </p:txBody>
      </p:sp>
      <p:sp>
        <p:nvSpPr>
          <p:cNvPr id="11" name="Oval 10"/>
          <p:cNvSpPr/>
          <p:nvPr/>
        </p:nvSpPr>
        <p:spPr>
          <a:xfrm>
            <a:off x="11551615" y="647395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73E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0D47A1"/>
                </a:solidFill>
              </a:defRPr>
            </a:pPr>
            <a:r>
              <a:t>HYDROVEX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80015" y="137160"/>
            <a:ext cx="1828800" cy="685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SMART INDIA
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"/>
            <a:ext cx="8716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729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19202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Python 3.10+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Core simulation &amp; ML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Physics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NumPy, SciPy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Thermodynamic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ML/AI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Scikit-learn (IF + RF)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Anomaly &amp; fault classification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Windowing &amp;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FastAPI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REST API telemetry server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HTML5/CSS3/JS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GCS dashboard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Comm Bus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python-can (CAN 2.0B)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Avionics bus transport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Joblib +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Model &amp; calibration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Edge HW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RPi 4 / Jetson Nano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Embedded deployment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0" y="1097280"/>
            <a:ext cx="6217920" cy="50292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5669280" cy="5943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  1. Mission Environment</a:t>
            </a:r>
            <a:r>
              <a:rPr sz="1000">
                <a:solidFill>
                  <a:srgbClr val="E0E0E0"/>
                </a:solidFill>
              </a:rPr>
              <a:t>  —  Alt, Temp, Throttle profiles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38528"/>
            <a:ext cx="5669280" cy="5943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  2. Physics Engine (Rotax 912)</a:t>
            </a:r>
            <a:r>
              <a:rPr sz="1000">
                <a:solidFill>
                  <a:srgbClr val="E0E0E0"/>
                </a:solidFill>
              </a:rPr>
              <a:t>  —  13-channel sensor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642616"/>
            <a:ext cx="5669280" cy="59436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  3. Virtual ECU / FADEC</a:t>
            </a:r>
            <a:r>
              <a:rPr sz="1000">
                <a:solidFill>
                  <a:srgbClr val="E0E0E0"/>
                </a:solidFill>
              </a:rPr>
              <a:t>  —  State machine, BIST, DTCs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346704"/>
            <a:ext cx="5669280" cy="594360"/>
          </a:xfrm>
          <a:prstGeom prst="roundRect">
            <a:avLst/>
          </a:prstGeom>
          <a:solidFill>
            <a:srgbClr val="006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  4. CAN 2.0B Bus (0x100-0x107)</a:t>
            </a:r>
            <a:r>
              <a:rPr sz="1000">
                <a:solidFill>
                  <a:srgbClr val="E0E0E0"/>
                </a:solidFill>
              </a:rPr>
              <a:t>  —  8-byte frame encoding, 500 kbps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050792"/>
            <a:ext cx="5669280" cy="5943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  5. Digital Twin + z-Score Residuals</a:t>
            </a:r>
            <a:r>
              <a:rPr sz="1000">
                <a:solidFill>
                  <a:srgbClr val="E0E0E0"/>
                </a:solidFill>
              </a:rPr>
              <a:t>  —  Physics baseline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754880"/>
            <a:ext cx="5669280" cy="5943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  6. AI Pipeline (IF → RF → RUL)</a:t>
            </a:r>
            <a:r>
              <a:rPr sz="1000">
                <a:solidFill>
                  <a:srgbClr val="E0E0E0"/>
                </a:solidFill>
              </a:rPr>
              <a:t>  —  Anomaly → Classify → Forecast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458968"/>
            <a:ext cx="5669280" cy="5943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  7. GCS Dashboard</a:t>
            </a:r>
            <a:r>
              <a:rPr sz="1000">
                <a:solidFill>
                  <a:srgbClr val="E0E0E0"/>
                </a:solidFill>
              </a:rPr>
              <a:t>  —  Live telemetry, alerts, XAI, RUL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1A1A1A"/>
                </a:solidFill>
              </a:defRPr>
            </a:pPr>
            <a:r>
              <a:t>Key Implementation Details: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1A"/>
                </a:solidFill>
              </a:defRPr>
            </a:pPr>
            <a:r>
              <a:t>• 60s rolling windows → 26-dim feature vectors (mean + std of 13 z-scores)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1A"/>
                </a:solidFill>
              </a:defRPr>
            </a:pPr>
            <a:r>
              <a:t>• 5 consecutive window confirmation eliminates transient false triggers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1A"/>
                </a:solidFill>
              </a:defRPr>
            </a:pPr>
            <a:r>
              <a:t>• CAN transport achieves 100% classification agreement vs. direct telemetry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1A"/>
                </a:solidFill>
              </a:defRPr>
            </a:pPr>
            <a:r>
              <a:t>• Working prototype: FastAPI backend + HTML/JS GCS with 14 live gauge cards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 — Team HYDROVEX</a:t>
            </a:r>
          </a:p>
        </p:txBody>
      </p:sp>
      <p:sp>
        <p:nvSpPr>
          <p:cNvPr id="17" name="Oval 16"/>
          <p:cNvSpPr/>
          <p:nvPr/>
        </p:nvSpPr>
        <p:spPr>
          <a:xfrm>
            <a:off x="11551615" y="647395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73E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0D47A1"/>
                </a:solidFill>
              </a:defRPr>
            </a:pPr>
            <a:r>
              <a:t>HYDROVEX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80015" y="137160"/>
            <a:ext cx="1828800" cy="685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SMART INDIA
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"/>
            <a:ext cx="8716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729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Holdout Classification Accuracy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99.84%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Macro F1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False Alarm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0.0 / hr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Fault Detection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Cross-Condition F1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RUL Mean Absolute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0.91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CAN Classification Agreement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Model Mismatch 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± 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09728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Real sensor noise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Adaptive filtering + transfer learning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Engine model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Online RLS twin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Sensor failure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Virtual ECU BIST + degradation mode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CAN bus cyber-security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CMAC authentication + bus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CEMILAC certification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DO-178C modular architecture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Multi-engine adaptation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Parameterized per-engine twin instances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393192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931920"/>
            <a:ext cx="36576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 ✅ Technical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Working prototype with trained models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Mature open-source stack (Python, Scikit-learn, FastAPI)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Validated on 500 independent missions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13-channel telemetry + CAN 2.0B transport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047" y="393192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7047" y="3931920"/>
            <a:ext cx="3657600" cy="3657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 ✅ Deployment 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207" y="438912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Runs on RPi 4 / Jetson Nano (&lt; 500 MB RAM)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CAN 2.0B compatible with MCP2515 controllers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Modular architecture: each component replaceable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Standard REST API for GCS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8335" y="393192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68335" y="3931920"/>
            <a:ext cx="365760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 ✅ Economic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495" y="438912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Hardware cost: Rs. 3K-15K per unit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Zero software licensing (open-source)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ROI: Rs. 5-50 Cr saved per prevented loss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• vs. Rs. 50L+ for proprietary HUMS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 — Team HYDROVEX</a:t>
            </a:r>
          </a:p>
        </p:txBody>
      </p:sp>
      <p:sp>
        <p:nvSpPr>
          <p:cNvPr id="18" name="Oval 17"/>
          <p:cNvSpPr/>
          <p:nvPr/>
        </p:nvSpPr>
        <p:spPr>
          <a:xfrm>
            <a:off x="11551615" y="647395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73E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0D47A1"/>
                </a:solidFill>
              </a:defRPr>
            </a:pPr>
            <a:r>
              <a:t>HYDROVEX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80015" y="137160"/>
            <a:ext cx="1828800" cy="685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SMART INDIA
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"/>
            <a:ext cx="8716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729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103120" cy="10972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26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 algn="ctr">
              <a:defRPr sz="1000">
                <a:solidFill>
                  <a:srgbClr val="E0E0E0"/>
                </a:solidFill>
              </a:defRPr>
            </a:pPr>
            <a:r>
              <a:t>Fault Detection</a:t>
            </a:r>
            <a:br/>
            <a:r>
              <a:t>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05023" y="1097280"/>
            <a:ext cx="210312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2600" b="1">
                <a:solidFill>
                  <a:srgbClr val="FFFFFF"/>
                </a:solidFill>
              </a:defRPr>
            </a:pPr>
            <a:r>
              <a:t>0.0/hr</a:t>
            </a:r>
          </a:p>
          <a:p>
            <a:pPr algn="ctr">
              <a:defRPr sz="1000">
                <a:solidFill>
                  <a:srgbClr val="E0E0E0"/>
                </a:solidFill>
              </a:defRPr>
            </a:pPr>
            <a:r>
              <a:t>False Alarm</a:t>
            </a:r>
            <a:br/>
            <a:r>
              <a:t>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4287" y="1097280"/>
            <a:ext cx="210312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2600" b="1">
                <a:solidFill>
                  <a:srgbClr val="FFFFFF"/>
                </a:solidFill>
              </a:defRPr>
            </a:pPr>
            <a:r>
              <a:t>&lt; 1 min</a:t>
            </a:r>
          </a:p>
          <a:p>
            <a:pPr algn="ctr">
              <a:defRPr sz="1000">
                <a:solidFill>
                  <a:srgbClr val="E0E0E0"/>
                </a:solidFill>
              </a:defRPr>
            </a:pPr>
            <a:r>
              <a:t>RUL Prediction</a:t>
            </a:r>
            <a:br/>
            <a:r>
              <a:t>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83551" y="1097280"/>
            <a:ext cx="2103120" cy="10972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2600" b="1">
                <a:solidFill>
                  <a:srgbClr val="FFFFFF"/>
                </a:solidFill>
              </a:defRPr>
            </a:pPr>
            <a:r>
              <a:t>20 min</a:t>
            </a:r>
          </a:p>
          <a:p>
            <a:pPr algn="ctr">
              <a:defRPr sz="1000">
                <a:solidFill>
                  <a:srgbClr val="E0E0E0"/>
                </a:solidFill>
              </a:defRPr>
            </a:pPr>
            <a:r>
              <a:t>Advance Failure</a:t>
            </a:r>
            <a:br/>
            <a:r>
              <a:t>Warning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22815" y="1097280"/>
            <a:ext cx="2103120" cy="10972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2600" b="1">
                <a:solidFill>
                  <a:srgbClr val="FFFFFF"/>
                </a:solidFill>
              </a:defRPr>
            </a:pPr>
            <a:r>
              <a:t>99.84%</a:t>
            </a:r>
          </a:p>
          <a:p>
            <a:pPr algn="ctr">
              <a:defRPr sz="1000">
                <a:solidFill>
                  <a:srgbClr val="E0E0E0"/>
                </a:solidFill>
              </a:defRPr>
            </a:pPr>
            <a:r>
              <a:t>Classification</a:t>
            </a:r>
            <a:br/>
            <a: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77440"/>
            <a:ext cx="5669280" cy="2103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1A1A1A"/>
                </a:solidFill>
              </a:defRPr>
            </a:pPr>
            <a:r>
              <a:t>🎯 Defense &amp; Strategic Impact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Enhanced mission reliability for TAPAS-BH-201, Rustom-II UAV programs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40-60% reduction in mission abort rates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Asset loss prevention: Rs. 50-200 Cr per MALE UAV saved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Accelerates indigenous HUMS development for DRDO &amp; HAL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Technology transfer pathway to Defence PSUs (BEL, BDL)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669280" cy="2103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1A1A1A"/>
                </a:solidFill>
              </a:defRPr>
            </a:pPr>
            <a:r>
              <a:t>💰 Economic Benefits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Rs. 5-50 Crore saved per prevented UAV loss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30-50% reduction in engine overhaul costs (condition-based maintenance)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Deployment cost: Rs. 15K-50K per aircraft vs. Rs. 50L+ proprietary HUMS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ROI exceeding 1000x on first prevented failure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Zero software licensing — fully open-source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572000"/>
            <a:ext cx="5669280" cy="2103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1A1A1A"/>
                </a:solidFill>
              </a:defRPr>
            </a:pPr>
            <a:r>
              <a:t>🌍 Environmental Benefits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5-10% fuel efficiency improvement through optimized engine operation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Reduced unscheduled engine replacements (lower manufacturing waste)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Condition-based maintenance eliminates unnecessary oil/part changes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Lower carbon footprint from extended engine service life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572000"/>
            <a:ext cx="5669280" cy="21031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6177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1A1A1A"/>
                </a:solidFill>
              </a:defRPr>
            </a:pPr>
            <a:r>
              <a:t>🏛️ Social &amp; Strategic Benefits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Atmanirbhar Bharat: 100% indigenous technology, no foreign dependencies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Technology spinoff: Civil aviation, automotive, marine, industrial turbines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Creates demand for AI + Aerospace cross-domain engineers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  <a:r>
              <a:t>• Export potential to friendly nations with similar UAV fleets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 — Team HYDROVEX</a:t>
            </a:r>
          </a:p>
        </p:txBody>
      </p:sp>
      <p:sp>
        <p:nvSpPr>
          <p:cNvPr id="20" name="Oval 19"/>
          <p:cNvSpPr/>
          <p:nvPr/>
        </p:nvSpPr>
        <p:spPr>
          <a:xfrm>
            <a:off x="11551615" y="647395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73E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0D47A1"/>
                </a:solidFill>
              </a:defRPr>
            </a:pPr>
            <a:r>
              <a:t>HYDROVEX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80015" y="137160"/>
            <a:ext cx="1828800" cy="685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7D32"/>
                </a:solidFill>
              </a:rPr>
              <a:t>SMART INDIA
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"/>
            <a:ext cx="8716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729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669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66928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[1] Grieves &amp; Vickers (2017) — "Digital Twin: Mitigating Unpredictable Behavior in Complex Systems" — Springer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[2] Tao et al. (2019) — "Digital Twin-Driven Product Design &amp; Manufacturing" — Int. J. Adv. Manuf. Tech.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[3] Tuegel et al. (2011) — "Reengineering Aircraft Life Prediction Using Digital Twin" — Int. J. Aerospace Eng.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669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6692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 Prognostics &amp; Health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[4] Vachtsevanos et al. (2006) — "Intelligent Fault Diagnosis &amp; Prognosis for Engineering Systems" — Wiley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[5] Schwabacher &amp; Goebel (2007) — "A Survey of AI for Prognostics" — AAAI Fall Symposium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[6] Lei et al. (2018) — "Machinery Health Prognostics: Systematic Review" — Mech. Sys. Signal Proc.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57600"/>
            <a:ext cx="5669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5669280" cy="3200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[7] Liu, Ting &amp; Zhou (2008) — "Isolation Forest" — IEEE ICDM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[8] Breiman (2001) — "Random Forests" — Machine Learning, 45(1)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[13] Ribeiro et al. (2016) — "LIME: Explaining Classifier Predictions" — ACM SIGKDD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[14] Lundberg &amp; Lee (2017) — "SHAP: Unified Approach to Interpreting Predictions" — NeurIPS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669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657600"/>
            <a:ext cx="5669280" cy="320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 Aerospace &amp;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[9] Rotax 912 S/ULS Installation Manual — BRP-Rotax GmbH (2023)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[10] Austin (2010) — "Unmanned Aircraft Systems: Design &amp; Deployment" — Wiley Aerospace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[11] Bosch (1991) — "CAN Specification Version 2.0" — Robert Bosch GmbH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[15] DRDO — TAPAS-BH-201 (Rustom-II) MALE UAV Program (2022)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[17] RTCA DO-178C — Software Certification for Airborne Systems (2011)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 — Team HYDROVEX</a:t>
            </a:r>
          </a:p>
        </p:txBody>
      </p:sp>
      <p:sp>
        <p:nvSpPr>
          <p:cNvPr id="19" name="Oval 18"/>
          <p:cNvSpPr/>
          <p:nvPr/>
        </p:nvSpPr>
        <p:spPr>
          <a:xfrm>
            <a:off x="11551615" y="647395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73E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