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0B9D992-25E7-ABCB-8F24-3E4A9BC64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9" name="Rectangle 24">
            <a:extLst>
              <a:ext uri="{FF2B5EF4-FFF2-40B4-BE49-F238E27FC236}">
                <a16:creationId xmlns:a16="http://schemas.microsoft.com/office/drawing/2014/main" id="{FFAAD480-FF2A-A2D8-19D5-AE13D561B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26">
            <a:extLst>
              <a:ext uri="{FF2B5EF4-FFF2-40B4-BE49-F238E27FC236}">
                <a16:creationId xmlns:a16="http://schemas.microsoft.com/office/drawing/2014/main" id="{9B005741-6577-F27C-4647-E63C74F4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2CC836-EC32-8741-ABCC-3008EEB2DB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786861" y="1710951"/>
            <a:ext cx="3203509" cy="3426237"/>
          </a:xfrm>
          <a:prstGeom prst="rect">
            <a:avLst/>
          </a:prstGeom>
        </p:spPr>
      </p:pic>
      <p:sp>
        <p:nvSpPr>
          <p:cNvPr id="16" name="Title 7">
            <a:extLst>
              <a:ext uri="{FF2B5EF4-FFF2-40B4-BE49-F238E27FC236}">
                <a16:creationId xmlns:a16="http://schemas.microsoft.com/office/drawing/2014/main" id="{099B477F-CCA8-5087-185A-6BFF18F739B9}"/>
              </a:ext>
            </a:extLst>
          </p:cNvPr>
          <p:cNvSpPr txBox="1">
            <a:spLocks/>
          </p:cNvSpPr>
          <p:nvPr/>
        </p:nvSpPr>
        <p:spPr>
          <a:xfrm>
            <a:off x="304800" y="218898"/>
            <a:ext cx="10363200" cy="106233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2B908E-4C7B-BBA9-5D64-E5B266E45678}"/>
              </a:ext>
            </a:extLst>
          </p:cNvPr>
          <p:cNvSpPr txBox="1"/>
          <p:nvPr/>
        </p:nvSpPr>
        <p:spPr>
          <a:xfrm>
            <a:off x="331286" y="1498634"/>
            <a:ext cx="826026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26054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AI-Enabled Real-Time Digital Twin System for Health Monitoring, Fault Prediction and Mission Reliability Enhancement of Aero Piston Engines used in MALE UAVs.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Robotics and Drones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ID- 171797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Hydrovex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EBFB1-B202-30F4-D708-7C30C6DBA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60000"/>
            <a:ext cx="10972800" cy="600000"/>
          </a:xfrm>
        </p:spPr>
        <p:txBody>
          <a:bodyPr anchor="ctr">
            <a:normAutofit/>
          </a:bodyPr>
          <a:lstStyle/>
          <a:p>
            <a:pPr algn="ctr"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Team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HYDROVEX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Subtitle 201"/>
          <p:cNvSpPr txBox="1"/>
          <p:nvPr/>
        </p:nvSpPr>
        <p:spPr>
          <a:xfrm>
            <a:off x="182880" y="6583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0C0"/>
                </a:solidFill>
                <a:latin typeface="Arial"/>
                <a:cs typeface="Arial"/>
              </a:rPr>
              <a:t>Physics-based Digital Twin for Predictive UAV Engine Health</a:t>
            </a:r>
          </a:p>
        </p:txBody>
      </p:sp>
      <p:sp>
        <p:nvSpPr>
          <p:cNvPr id="202" name="Statement 202"/>
          <p:cNvSpPr/>
          <p:nvPr/>
        </p:nvSpPr>
        <p:spPr>
          <a:xfrm>
            <a:off x="365760" y="1170432"/>
            <a:ext cx="11457432" cy="566928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</p:spPr>
        <p:txBody>
          <a:bodyPr wrap="square" lIns="137160" tIns="36576" rIns="137160" bIns="3657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Arial"/>
                <a:cs typeface="Arial"/>
              </a:rPr>
              <a:t>AEROTWIN </a:t>
            </a:r>
            <a:r>
              <a:rPr lang="en-US" sz="1200" dirty="0">
                <a:solidFill>
                  <a:srgbClr val="1F2A44"/>
                </a:solidFill>
                <a:latin typeface="Arial"/>
                <a:cs typeface="Arial"/>
              </a:rPr>
              <a:t>continuously compares measured engine behaviour with expected healthy behaviour under the current operating condition to detect anomalies, identify probable faults and estimate remaining useful life (RUL).</a:t>
            </a:r>
          </a:p>
        </p:txBody>
      </p:sp>
      <p:sp>
        <p:nvSpPr>
          <p:cNvPr id="203" name="Step 203"/>
          <p:cNvSpPr/>
          <p:nvPr/>
        </p:nvSpPr>
        <p:spPr>
          <a:xfrm>
            <a:off x="365760" y="1874520"/>
            <a:ext cx="1417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73152" rIns="73152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1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ENGINE TELEMETRY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RPM • CHT • EGT • Oil P/T • Fuel • Vibration • Electrical • Flight context</a:t>
            </a:r>
          </a:p>
        </p:txBody>
      </p:sp>
      <p:cxnSp>
        <p:nvCxnSpPr>
          <p:cNvPr id="204" name="Arrow 204"/>
          <p:cNvCxnSpPr/>
          <p:nvPr/>
        </p:nvCxnSpPr>
        <p:spPr>
          <a:xfrm>
            <a:off x="1810512" y="2560320"/>
            <a:ext cx="201168" cy="0"/>
          </a:xfrm>
          <a:prstGeom prst="line">
            <a:avLst/>
          </a:prstGeom>
          <a:ln w="15875">
            <a:solidFill>
              <a:srgbClr val="0B2545"/>
            </a:solidFill>
            <a:tailEnd type="triangle" w="med" len="med"/>
          </a:ln>
        </p:spPr>
      </p:cxnSp>
      <p:sp>
        <p:nvSpPr>
          <p:cNvPr id="205" name="Badge 205"/>
          <p:cNvSpPr/>
          <p:nvPr/>
        </p:nvSpPr>
        <p:spPr>
          <a:xfrm>
            <a:off x="1431036" y="1933956"/>
            <a:ext cx="265176" cy="26517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06" name="Icon 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678" y="1997598"/>
            <a:ext cx="137892" cy="137892"/>
          </a:xfrm>
          <a:prstGeom prst="rect">
            <a:avLst/>
          </a:prstGeom>
        </p:spPr>
      </p:pic>
      <p:sp>
        <p:nvSpPr>
          <p:cNvPr id="207" name="Step 207"/>
          <p:cNvSpPr/>
          <p:nvPr/>
        </p:nvSpPr>
        <p:spPr>
          <a:xfrm>
            <a:off x="2039112" y="1874520"/>
            <a:ext cx="1417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73152" rIns="73152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2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PHYSICS-BASED DIGITAL TWIN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ISA atmosphere + engine thermodynamics + operating condition</a:t>
            </a:r>
          </a:p>
        </p:txBody>
      </p:sp>
      <p:cxnSp>
        <p:nvCxnSpPr>
          <p:cNvPr id="208" name="Arrow 208"/>
          <p:cNvCxnSpPr/>
          <p:nvPr/>
        </p:nvCxnSpPr>
        <p:spPr>
          <a:xfrm>
            <a:off x="3483864" y="2560320"/>
            <a:ext cx="201168" cy="0"/>
          </a:xfrm>
          <a:prstGeom prst="line">
            <a:avLst/>
          </a:prstGeom>
          <a:ln w="15875">
            <a:solidFill>
              <a:srgbClr val="0B2545"/>
            </a:solidFill>
            <a:tailEnd type="triangle" w="med" len="med"/>
          </a:ln>
        </p:spPr>
      </p:cxnSp>
      <p:sp>
        <p:nvSpPr>
          <p:cNvPr id="209" name="Badge 209"/>
          <p:cNvSpPr/>
          <p:nvPr/>
        </p:nvSpPr>
        <p:spPr>
          <a:xfrm>
            <a:off x="3104388" y="1933956"/>
            <a:ext cx="265176" cy="26517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10" name="Icon 2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030" y="1997598"/>
            <a:ext cx="137892" cy="137892"/>
          </a:xfrm>
          <a:prstGeom prst="rect">
            <a:avLst/>
          </a:prstGeom>
        </p:spPr>
      </p:pic>
      <p:sp>
        <p:nvSpPr>
          <p:cNvPr id="211" name="Step 211"/>
          <p:cNvSpPr/>
          <p:nvPr/>
        </p:nvSpPr>
        <p:spPr>
          <a:xfrm>
            <a:off x="3712464" y="1874520"/>
            <a:ext cx="1417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73152" rIns="73152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3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ACTUAL vs EXPECTED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Measured behaviour vs healthy prediction</a:t>
            </a:r>
          </a:p>
        </p:txBody>
      </p:sp>
      <p:cxnSp>
        <p:nvCxnSpPr>
          <p:cNvPr id="212" name="Arrow 212"/>
          <p:cNvCxnSpPr/>
          <p:nvPr/>
        </p:nvCxnSpPr>
        <p:spPr>
          <a:xfrm>
            <a:off x="5157216" y="2560320"/>
            <a:ext cx="201168" cy="0"/>
          </a:xfrm>
          <a:prstGeom prst="line">
            <a:avLst/>
          </a:prstGeom>
          <a:ln w="15875">
            <a:solidFill>
              <a:srgbClr val="0B2545"/>
            </a:solidFill>
            <a:tailEnd type="triangle" w="med" len="med"/>
          </a:ln>
        </p:spPr>
      </p:cxnSp>
      <p:sp>
        <p:nvSpPr>
          <p:cNvPr id="213" name="Badge 213"/>
          <p:cNvSpPr/>
          <p:nvPr/>
        </p:nvSpPr>
        <p:spPr>
          <a:xfrm>
            <a:off x="4777740" y="1933956"/>
            <a:ext cx="265176" cy="26517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14" name="Icon 2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382" y="1997598"/>
            <a:ext cx="137892" cy="137892"/>
          </a:xfrm>
          <a:prstGeom prst="rect">
            <a:avLst/>
          </a:prstGeom>
        </p:spPr>
      </p:pic>
      <p:sp>
        <p:nvSpPr>
          <p:cNvPr id="215" name="Step 215"/>
          <p:cNvSpPr/>
          <p:nvPr/>
        </p:nvSpPr>
        <p:spPr>
          <a:xfrm>
            <a:off x="5385816" y="1874520"/>
            <a:ext cx="1417320" cy="1371600"/>
          </a:xfrm>
          <a:prstGeom prst="rect">
            <a:avLst/>
          </a:prstGeom>
          <a:solidFill>
            <a:srgbClr val="E6F0FA"/>
          </a:solidFill>
          <a:ln w="19050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73152" rIns="73152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4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RESIDUAL GENERATION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F2A44"/>
                </a:solidFill>
                <a:latin typeface="Arial"/>
                <a:cs typeface="Arial"/>
              </a:rPr>
              <a:t>Residual = Actual − Expected</a:t>
            </a:r>
          </a:p>
        </p:txBody>
      </p:sp>
      <p:cxnSp>
        <p:nvCxnSpPr>
          <p:cNvPr id="216" name="Arrow 216"/>
          <p:cNvCxnSpPr/>
          <p:nvPr/>
        </p:nvCxnSpPr>
        <p:spPr>
          <a:xfrm>
            <a:off x="6830568" y="2560320"/>
            <a:ext cx="201168" cy="0"/>
          </a:xfrm>
          <a:prstGeom prst="line">
            <a:avLst/>
          </a:prstGeom>
          <a:ln w="15875">
            <a:solidFill>
              <a:srgbClr val="0B2545"/>
            </a:solidFill>
            <a:tailEnd type="triangle" w="med" len="med"/>
          </a:ln>
        </p:spPr>
      </p:cxnSp>
      <p:sp>
        <p:nvSpPr>
          <p:cNvPr id="217" name="Badge 217"/>
          <p:cNvSpPr/>
          <p:nvPr/>
        </p:nvSpPr>
        <p:spPr>
          <a:xfrm>
            <a:off x="6451092" y="1933956"/>
            <a:ext cx="265176" cy="2651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18" name="Icon 2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734" y="1997598"/>
            <a:ext cx="137892" cy="137892"/>
          </a:xfrm>
          <a:prstGeom prst="rect">
            <a:avLst/>
          </a:prstGeom>
        </p:spPr>
      </p:pic>
      <p:sp>
        <p:nvSpPr>
          <p:cNvPr id="219" name="Step 219"/>
          <p:cNvSpPr/>
          <p:nvPr/>
        </p:nvSpPr>
        <p:spPr>
          <a:xfrm>
            <a:off x="7059168" y="1874520"/>
            <a:ext cx="1417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73152" rIns="73152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5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AI / ML ANALYSIS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Anomaly detection + fault classification + XAI</a:t>
            </a:r>
          </a:p>
        </p:txBody>
      </p:sp>
      <p:cxnSp>
        <p:nvCxnSpPr>
          <p:cNvPr id="220" name="Arrow 220"/>
          <p:cNvCxnSpPr/>
          <p:nvPr/>
        </p:nvCxnSpPr>
        <p:spPr>
          <a:xfrm>
            <a:off x="8503920" y="2560320"/>
            <a:ext cx="201168" cy="0"/>
          </a:xfrm>
          <a:prstGeom prst="line">
            <a:avLst/>
          </a:prstGeom>
          <a:ln w="15875">
            <a:solidFill>
              <a:srgbClr val="0B2545"/>
            </a:solidFill>
            <a:tailEnd type="triangle" w="med" len="med"/>
          </a:ln>
        </p:spPr>
      </p:cxnSp>
      <p:sp>
        <p:nvSpPr>
          <p:cNvPr id="221" name="Badge 221"/>
          <p:cNvSpPr/>
          <p:nvPr/>
        </p:nvSpPr>
        <p:spPr>
          <a:xfrm>
            <a:off x="8124444" y="1933956"/>
            <a:ext cx="265176" cy="26517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22" name="Icon 2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8086" y="1997598"/>
            <a:ext cx="137892" cy="137892"/>
          </a:xfrm>
          <a:prstGeom prst="rect">
            <a:avLst/>
          </a:prstGeom>
        </p:spPr>
      </p:pic>
      <p:sp>
        <p:nvSpPr>
          <p:cNvPr id="223" name="Step 223"/>
          <p:cNvSpPr/>
          <p:nvPr/>
        </p:nvSpPr>
        <p:spPr>
          <a:xfrm>
            <a:off x="8732520" y="1874520"/>
            <a:ext cx="1417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73152" rIns="73152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6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DEGRADATION &amp; RUL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Trend tracking + remaining useful life</a:t>
            </a:r>
          </a:p>
        </p:txBody>
      </p:sp>
      <p:cxnSp>
        <p:nvCxnSpPr>
          <p:cNvPr id="224" name="Arrow 224"/>
          <p:cNvCxnSpPr/>
          <p:nvPr/>
        </p:nvCxnSpPr>
        <p:spPr>
          <a:xfrm>
            <a:off x="10177272" y="2560320"/>
            <a:ext cx="201168" cy="0"/>
          </a:xfrm>
          <a:prstGeom prst="line">
            <a:avLst/>
          </a:prstGeom>
          <a:ln w="15875">
            <a:solidFill>
              <a:srgbClr val="0B2545"/>
            </a:solidFill>
            <a:tailEnd type="triangle" w="med" len="med"/>
          </a:ln>
        </p:spPr>
      </p:cxnSp>
      <p:sp>
        <p:nvSpPr>
          <p:cNvPr id="225" name="Badge 225"/>
          <p:cNvSpPr/>
          <p:nvPr/>
        </p:nvSpPr>
        <p:spPr>
          <a:xfrm>
            <a:off x="9797796" y="1933956"/>
            <a:ext cx="265176" cy="26517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26" name="Icon 2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1438" y="1997598"/>
            <a:ext cx="137892" cy="137892"/>
          </a:xfrm>
          <a:prstGeom prst="rect">
            <a:avLst/>
          </a:prstGeom>
        </p:spPr>
      </p:pic>
      <p:sp>
        <p:nvSpPr>
          <p:cNvPr id="227" name="Step 227"/>
          <p:cNvSpPr/>
          <p:nvPr/>
        </p:nvSpPr>
        <p:spPr>
          <a:xfrm>
            <a:off x="10405872" y="1874520"/>
            <a:ext cx="1417320" cy="137160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73152" rIns="73152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MAINTENANCE ADVISORY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Actionable decision support</a:t>
            </a:r>
          </a:p>
        </p:txBody>
      </p:sp>
      <p:sp>
        <p:nvSpPr>
          <p:cNvPr id="228" name="Badge 228"/>
          <p:cNvSpPr/>
          <p:nvPr/>
        </p:nvSpPr>
        <p:spPr>
          <a:xfrm>
            <a:off x="11471148" y="19339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29" name="Icon 2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34790" y="1997598"/>
            <a:ext cx="137892" cy="137892"/>
          </a:xfrm>
          <a:prstGeom prst="rect">
            <a:avLst/>
          </a:prstGeom>
        </p:spPr>
      </p:pic>
      <p:sp>
        <p:nvSpPr>
          <p:cNvPr id="230" name="Label 230"/>
          <p:cNvSpPr txBox="1"/>
          <p:nvPr/>
        </p:nvSpPr>
        <p:spPr>
          <a:xfrm>
            <a:off x="365760" y="3291840"/>
            <a:ext cx="11457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i="1" dirty="0">
                <a:solidFill>
                  <a:srgbClr val="5B6675"/>
                </a:solidFill>
                <a:latin typeface="Arial"/>
                <a:cs typeface="Arial"/>
              </a:rPr>
              <a:t>Core diagnostic loop: measure → predict healthy behaviour → compare → diagnose → forecast → advise</a:t>
            </a:r>
          </a:p>
        </p:txBody>
      </p:sp>
      <p:sp>
        <p:nvSpPr>
          <p:cNvPr id="231" name="Header 231"/>
          <p:cNvSpPr/>
          <p:nvPr/>
        </p:nvSpPr>
        <p:spPr>
          <a:xfrm>
            <a:off x="365760" y="3611880"/>
            <a:ext cx="6675120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WORKING SOFTWARE PROTOTYPE</a:t>
            </a:r>
          </a:p>
        </p:txBody>
      </p:sp>
      <p:sp>
        <p:nvSpPr>
          <p:cNvPr id="232" name="Screenshot placeholder 232"/>
          <p:cNvSpPr/>
          <p:nvPr/>
        </p:nvSpPr>
        <p:spPr>
          <a:xfrm>
            <a:off x="365760" y="3950208"/>
            <a:ext cx="3611880" cy="1920240"/>
          </a:xfrm>
          <a:prstGeom prst="rect">
            <a:avLst/>
          </a:prstGeom>
          <a:solidFill>
            <a:srgbClr val="F7F9FC"/>
          </a:solidFill>
          <a:ln w="12700">
            <a:solidFill>
              <a:srgbClr val="8A95A5"/>
            </a:solidFill>
            <a:prstDash val="dash"/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B6675"/>
                </a:solidFill>
                <a:latin typeface="Arial"/>
                <a:cs typeface="Arial"/>
              </a:rPr>
              <a:t>INSERT SCREENSHOT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5B6675"/>
                </a:solidFill>
                <a:latin typeface="Arial"/>
                <a:cs typeface="Arial"/>
              </a:rPr>
              <a:t>AEROTWIN dashboard (full view)</a:t>
            </a:r>
          </a:p>
        </p:txBody>
      </p:sp>
      <p:sp>
        <p:nvSpPr>
          <p:cNvPr id="233" name="Checklist 233"/>
          <p:cNvSpPr txBox="1"/>
          <p:nvPr/>
        </p:nvSpPr>
        <p:spPr>
          <a:xfrm>
            <a:off x="4114800" y="3950208"/>
            <a:ext cx="2926080" cy="1920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marL="190000" indent="-190000" algn="l">
              <a:spcBef>
                <a:spcPts val="0"/>
              </a:spcBef>
              <a:spcAft>
                <a:spcPts val="300"/>
              </a:spcAft>
              <a:buClr>
                <a:srgbClr val="2E7D32"/>
              </a:buClr>
              <a:buFont typeface="Wingdings" pitchFamily="2" charset="2"/>
              <a:buChar char="ü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Real-time engine health monitoring</a:t>
            </a:r>
          </a:p>
          <a:p>
            <a:pPr marL="190000" indent="-190000" algn="l">
              <a:spcBef>
                <a:spcPts val="0"/>
              </a:spcBef>
              <a:spcAft>
                <a:spcPts val="300"/>
              </a:spcAft>
              <a:buClr>
                <a:srgbClr val="2E7D32"/>
              </a:buClr>
              <a:buFont typeface="Wingdings" pitchFamily="2" charset="2"/>
              <a:buChar char="ü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Actual vs expected Digital Twin comparison</a:t>
            </a:r>
          </a:p>
          <a:p>
            <a:pPr marL="190000" indent="-190000" algn="l">
              <a:spcBef>
                <a:spcPts val="0"/>
              </a:spcBef>
              <a:spcAft>
                <a:spcPts val="300"/>
              </a:spcAft>
              <a:buClr>
                <a:srgbClr val="2E7D32"/>
              </a:buClr>
              <a:buFont typeface="Wingdings" pitchFamily="2" charset="2"/>
              <a:buChar char="ü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Residual and anomaly detection</a:t>
            </a:r>
          </a:p>
          <a:p>
            <a:pPr marL="190000" indent="-190000" algn="l">
              <a:spcBef>
                <a:spcPts val="0"/>
              </a:spcBef>
              <a:spcAft>
                <a:spcPts val="300"/>
              </a:spcAft>
              <a:buClr>
                <a:srgbClr val="2E7D32"/>
              </a:buClr>
              <a:buFont typeface="Wingdings" pitchFamily="2" charset="2"/>
              <a:buChar char="ü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Fault classification + XAI</a:t>
            </a:r>
          </a:p>
          <a:p>
            <a:pPr marL="190000" indent="-190000" algn="l">
              <a:spcBef>
                <a:spcPts val="0"/>
              </a:spcBef>
              <a:spcAft>
                <a:spcPts val="300"/>
              </a:spcAft>
              <a:buClr>
                <a:srgbClr val="2E7D32"/>
              </a:buClr>
              <a:buFont typeface="Wingdings" pitchFamily="2" charset="2"/>
              <a:buChar char="ü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Degradation trend + RUL</a:t>
            </a:r>
          </a:p>
          <a:p>
            <a:pPr marL="190000" indent="-190000" algn="l">
              <a:spcBef>
                <a:spcPts val="0"/>
              </a:spcBef>
              <a:spcAft>
                <a:spcPts val="300"/>
              </a:spcAft>
              <a:buClr>
                <a:srgbClr val="2E7D32"/>
              </a:buClr>
              <a:buFont typeface="Wingdings" pitchFamily="2" charset="2"/>
              <a:buChar char="ü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Mission replay / simulation</a:t>
            </a:r>
          </a:p>
          <a:p>
            <a:pPr marL="190000" indent="-190000" algn="l">
              <a:spcBef>
                <a:spcPts val="0"/>
              </a:spcBef>
              <a:spcAft>
                <a:spcPts val="300"/>
              </a:spcAft>
              <a:buClr>
                <a:srgbClr val="2E7D32"/>
              </a:buClr>
              <a:buFont typeface="Wingdings" pitchFamily="2" charset="2"/>
              <a:buChar char="ü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CAN telemetry decoding and validation</a:t>
            </a:r>
          </a:p>
        </p:txBody>
      </p:sp>
      <p:sp>
        <p:nvSpPr>
          <p:cNvPr id="234" name="Header 234"/>
          <p:cNvSpPr/>
          <p:nvPr/>
        </p:nvSpPr>
        <p:spPr>
          <a:xfrm>
            <a:off x="7269480" y="3611880"/>
            <a:ext cx="4553712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TELEMETRY INPUTS</a:t>
            </a:r>
          </a:p>
        </p:txBody>
      </p:sp>
      <p:sp>
        <p:nvSpPr>
          <p:cNvPr id="235" name="Input 235"/>
          <p:cNvSpPr/>
          <p:nvPr/>
        </p:nvSpPr>
        <p:spPr>
          <a:xfrm>
            <a:off x="7269480" y="3950208"/>
            <a:ext cx="14569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457200" tIns="36576" rIns="36576" bIns="3657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Synthetic Data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B6675"/>
                </a:solidFill>
                <a:latin typeface="Arial"/>
                <a:cs typeface="Arial"/>
              </a:rPr>
              <a:t>Simulation</a:t>
            </a:r>
          </a:p>
        </p:txBody>
      </p:sp>
      <p:sp>
        <p:nvSpPr>
          <p:cNvPr id="236" name="Badge 236"/>
          <p:cNvSpPr/>
          <p:nvPr/>
        </p:nvSpPr>
        <p:spPr>
          <a:xfrm>
            <a:off x="7360920" y="4114800"/>
            <a:ext cx="310896" cy="31089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37" name="Icon 2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5535" y="4189415"/>
            <a:ext cx="161666" cy="161666"/>
          </a:xfrm>
          <a:prstGeom prst="rect">
            <a:avLst/>
          </a:prstGeom>
        </p:spPr>
      </p:pic>
      <p:sp>
        <p:nvSpPr>
          <p:cNvPr id="238" name="Input 238"/>
          <p:cNvSpPr/>
          <p:nvPr/>
        </p:nvSpPr>
        <p:spPr>
          <a:xfrm>
            <a:off x="8817864" y="3950208"/>
            <a:ext cx="14569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457200" tIns="36576" rIns="36576" bIns="3657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Flight-Data Logs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B6675"/>
                </a:solidFill>
                <a:latin typeface="Arial"/>
                <a:cs typeface="Arial"/>
              </a:rPr>
              <a:t>CSV / FDR</a:t>
            </a:r>
          </a:p>
        </p:txBody>
      </p:sp>
      <p:sp>
        <p:nvSpPr>
          <p:cNvPr id="239" name="Badge 239"/>
          <p:cNvSpPr/>
          <p:nvPr/>
        </p:nvSpPr>
        <p:spPr>
          <a:xfrm>
            <a:off x="8909304" y="4114800"/>
            <a:ext cx="310896" cy="31089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40" name="Icon 2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83919" y="4189415"/>
            <a:ext cx="161666" cy="161666"/>
          </a:xfrm>
          <a:prstGeom prst="rect">
            <a:avLst/>
          </a:prstGeom>
        </p:spPr>
      </p:pic>
      <p:sp>
        <p:nvSpPr>
          <p:cNvPr id="241" name="Input 241"/>
          <p:cNvSpPr/>
          <p:nvPr/>
        </p:nvSpPr>
        <p:spPr>
          <a:xfrm>
            <a:off x="10366248" y="3950208"/>
            <a:ext cx="14569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457200" tIns="36576" rIns="36576" bIns="3657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CAN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B6675"/>
                </a:solidFill>
                <a:latin typeface="Arial"/>
                <a:cs typeface="Arial"/>
              </a:rPr>
              <a:t>Real / Virtual ECU</a:t>
            </a:r>
          </a:p>
        </p:txBody>
      </p:sp>
      <p:sp>
        <p:nvSpPr>
          <p:cNvPr id="242" name="Badge 242"/>
          <p:cNvSpPr/>
          <p:nvPr/>
        </p:nvSpPr>
        <p:spPr>
          <a:xfrm>
            <a:off x="10457688" y="4114800"/>
            <a:ext cx="310896" cy="310896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43" name="Icon 2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2303" y="4189415"/>
            <a:ext cx="161666" cy="161666"/>
          </a:xfrm>
          <a:prstGeom prst="rect">
            <a:avLst/>
          </a:prstGeom>
        </p:spPr>
      </p:pic>
      <p:cxnSp>
        <p:nvCxnSpPr>
          <p:cNvPr id="244" name="Arrow 244"/>
          <p:cNvCxnSpPr/>
          <p:nvPr/>
        </p:nvCxnSpPr>
        <p:spPr>
          <a:xfrm>
            <a:off x="9546336" y="4626864"/>
            <a:ext cx="0" cy="219456"/>
          </a:xfrm>
          <a:prstGeom prst="line">
            <a:avLst/>
          </a:prstGeom>
          <a:ln w="15875">
            <a:solidFill>
              <a:srgbClr val="0B2545"/>
            </a:solidFill>
            <a:tailEnd type="triangle" w="med" len="med"/>
          </a:ln>
        </p:spPr>
      </p:cxnSp>
      <p:sp>
        <p:nvSpPr>
          <p:cNvPr id="245" name="Header 245"/>
          <p:cNvSpPr/>
          <p:nvPr/>
        </p:nvSpPr>
        <p:spPr>
          <a:xfrm>
            <a:off x="7269480" y="4882896"/>
            <a:ext cx="4553712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OUTPUTS</a:t>
            </a:r>
          </a:p>
        </p:txBody>
      </p:sp>
      <p:sp>
        <p:nvSpPr>
          <p:cNvPr id="246" name="Output 246"/>
          <p:cNvSpPr/>
          <p:nvPr/>
        </p:nvSpPr>
        <p:spPr>
          <a:xfrm>
            <a:off x="7269480" y="5212080"/>
            <a:ext cx="1069848" cy="658368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54864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Health Status</a:t>
            </a:r>
          </a:p>
        </p:txBody>
      </p:sp>
      <p:sp>
        <p:nvSpPr>
          <p:cNvPr id="247" name="Badge 247"/>
          <p:cNvSpPr/>
          <p:nvPr/>
        </p:nvSpPr>
        <p:spPr>
          <a:xfrm>
            <a:off x="7667244" y="527608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48" name="Icon 2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33081" y="5341925"/>
            <a:ext cx="142646" cy="142646"/>
          </a:xfrm>
          <a:prstGeom prst="rect">
            <a:avLst/>
          </a:prstGeom>
        </p:spPr>
      </p:pic>
      <p:sp>
        <p:nvSpPr>
          <p:cNvPr id="249" name="Output 249"/>
          <p:cNvSpPr/>
          <p:nvPr/>
        </p:nvSpPr>
        <p:spPr>
          <a:xfrm>
            <a:off x="8430768" y="5212080"/>
            <a:ext cx="1069848" cy="658368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54864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Probable Fault</a:t>
            </a:r>
          </a:p>
        </p:txBody>
      </p:sp>
      <p:sp>
        <p:nvSpPr>
          <p:cNvPr id="250" name="Badge 250"/>
          <p:cNvSpPr/>
          <p:nvPr/>
        </p:nvSpPr>
        <p:spPr>
          <a:xfrm>
            <a:off x="8828532" y="527608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51" name="Icon 25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4369" y="5341925"/>
            <a:ext cx="142646" cy="142646"/>
          </a:xfrm>
          <a:prstGeom prst="rect">
            <a:avLst/>
          </a:prstGeom>
        </p:spPr>
      </p:pic>
      <p:sp>
        <p:nvSpPr>
          <p:cNvPr id="252" name="Output 252"/>
          <p:cNvSpPr/>
          <p:nvPr/>
        </p:nvSpPr>
        <p:spPr>
          <a:xfrm>
            <a:off x="9592056" y="5212080"/>
            <a:ext cx="1069848" cy="658368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54864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Degradation / RUL</a:t>
            </a:r>
          </a:p>
        </p:txBody>
      </p:sp>
      <p:sp>
        <p:nvSpPr>
          <p:cNvPr id="253" name="Badge 253"/>
          <p:cNvSpPr/>
          <p:nvPr/>
        </p:nvSpPr>
        <p:spPr>
          <a:xfrm>
            <a:off x="9989820" y="527608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54" name="Icon 2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55657" y="5341925"/>
            <a:ext cx="142646" cy="142646"/>
          </a:xfrm>
          <a:prstGeom prst="rect">
            <a:avLst/>
          </a:prstGeom>
        </p:spPr>
      </p:pic>
      <p:sp>
        <p:nvSpPr>
          <p:cNvPr id="255" name="Output 255"/>
          <p:cNvSpPr/>
          <p:nvPr/>
        </p:nvSpPr>
        <p:spPr>
          <a:xfrm>
            <a:off x="10753344" y="5212080"/>
            <a:ext cx="1069848" cy="658368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54864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Maintenance Advisory</a:t>
            </a:r>
          </a:p>
        </p:txBody>
      </p:sp>
      <p:sp>
        <p:nvSpPr>
          <p:cNvPr id="256" name="Badge 256"/>
          <p:cNvSpPr/>
          <p:nvPr/>
        </p:nvSpPr>
        <p:spPr>
          <a:xfrm>
            <a:off x="11151108" y="527608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57" name="Icon 25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6945" y="5341925"/>
            <a:ext cx="142646" cy="142646"/>
          </a:xfrm>
          <a:prstGeom prst="rect">
            <a:avLst/>
          </a:prstGeom>
        </p:spPr>
      </p:pic>
      <p:sp>
        <p:nvSpPr>
          <p:cNvPr id="258" name="Footer note 258"/>
          <p:cNvSpPr/>
          <p:nvPr/>
        </p:nvSpPr>
        <p:spPr>
          <a:xfrm>
            <a:off x="365760" y="5961888"/>
            <a:ext cx="11457432" cy="310896"/>
          </a:xfrm>
          <a:prstGeom prst="rect">
            <a:avLst/>
          </a:prstGeom>
          <a:solidFill>
            <a:srgbClr val="FFF6EE"/>
          </a:solidFill>
          <a:ln w="9525">
            <a:solidFill>
              <a:srgbClr val="C8641A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C8641A"/>
                </a:solidFill>
                <a:latin typeface="Arial"/>
                <a:cs typeface="Arial"/>
              </a:rPr>
              <a:t>Current prototype is software/simulation validated; real engine degradation data is required for operational calibration.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998" y="60000"/>
            <a:ext cx="10972800" cy="600000"/>
          </a:xfrm>
        </p:spPr>
        <p:txBody>
          <a:bodyPr anchor="ctr">
            <a:normAutofit/>
          </a:bodyPr>
          <a:lstStyle/>
          <a:p>
            <a:pPr algn="ctr"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Team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HYDROVEX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59" name="Subtitle 259"/>
          <p:cNvSpPr txBox="1"/>
          <p:nvPr/>
        </p:nvSpPr>
        <p:spPr>
          <a:xfrm>
            <a:off x="182880" y="6583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0C0"/>
                </a:solidFill>
                <a:latin typeface="Arial"/>
                <a:cs typeface="Arial"/>
              </a:rPr>
              <a:t>End-to-End Architecture for UAV Engine Health Monitoring</a:t>
            </a:r>
          </a:p>
        </p:txBody>
      </p:sp>
      <p:sp>
        <p:nvSpPr>
          <p:cNvPr id="260" name="Label 260"/>
          <p:cNvSpPr txBox="1"/>
          <p:nvPr/>
        </p:nvSpPr>
        <p:spPr>
          <a:xfrm>
            <a:off x="365760" y="1161288"/>
            <a:ext cx="33284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5B6675"/>
                </a:solidFill>
                <a:latin typeface="Arial"/>
                <a:cs typeface="Arial"/>
              </a:rPr>
              <a:t>PHYSICAL / EMBEDDED PATH</a:t>
            </a:r>
          </a:p>
        </p:txBody>
      </p:sp>
      <p:sp>
        <p:nvSpPr>
          <p:cNvPr id="261" name="Label 261"/>
          <p:cNvSpPr txBox="1"/>
          <p:nvPr/>
        </p:nvSpPr>
        <p:spPr>
          <a:xfrm>
            <a:off x="3849624" y="1161288"/>
            <a:ext cx="79735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0070C0"/>
                </a:solidFill>
                <a:latin typeface="Arial"/>
                <a:cs typeface="Arial"/>
              </a:rPr>
              <a:t>AEROTWIN SOFTWARE STACK</a:t>
            </a:r>
          </a:p>
        </p:txBody>
      </p:sp>
      <p:sp>
        <p:nvSpPr>
          <p:cNvPr id="262" name="Arch 262"/>
          <p:cNvSpPr/>
          <p:nvPr/>
        </p:nvSpPr>
        <p:spPr>
          <a:xfrm>
            <a:off x="365760" y="1417320"/>
            <a:ext cx="1005840" cy="566928"/>
          </a:xfrm>
          <a:prstGeom prst="rect">
            <a:avLst/>
          </a:prstGeom>
          <a:solidFill>
            <a:srgbClr val="F2F5F9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ENGINE &amp; SENSORS</a:t>
            </a:r>
          </a:p>
        </p:txBody>
      </p:sp>
      <p:cxnSp>
        <p:nvCxnSpPr>
          <p:cNvPr id="263" name="Arrow 263"/>
          <p:cNvCxnSpPr/>
          <p:nvPr/>
        </p:nvCxnSpPr>
        <p:spPr>
          <a:xfrm>
            <a:off x="1389888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64" name="Arch 264"/>
          <p:cNvSpPr/>
          <p:nvPr/>
        </p:nvSpPr>
        <p:spPr>
          <a:xfrm>
            <a:off x="1527048" y="1417320"/>
            <a:ext cx="1005840" cy="566928"/>
          </a:xfrm>
          <a:prstGeom prst="rect">
            <a:avLst/>
          </a:prstGeom>
          <a:solidFill>
            <a:srgbClr val="F2F5F9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ECU / FADEC</a:t>
            </a:r>
          </a:p>
        </p:txBody>
      </p:sp>
      <p:cxnSp>
        <p:nvCxnSpPr>
          <p:cNvPr id="265" name="Arrow 265"/>
          <p:cNvCxnSpPr/>
          <p:nvPr/>
        </p:nvCxnSpPr>
        <p:spPr>
          <a:xfrm>
            <a:off x="2551176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66" name="Arch 266"/>
          <p:cNvSpPr/>
          <p:nvPr/>
        </p:nvSpPr>
        <p:spPr>
          <a:xfrm>
            <a:off x="2688336" y="1417320"/>
            <a:ext cx="1005840" cy="566928"/>
          </a:xfrm>
          <a:prstGeom prst="rect">
            <a:avLst/>
          </a:prstGeom>
          <a:solidFill>
            <a:srgbClr val="F2F5F9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CAN TELEMETRY</a:t>
            </a:r>
          </a:p>
        </p:txBody>
      </p:sp>
      <p:cxnSp>
        <p:nvCxnSpPr>
          <p:cNvPr id="267" name="Arrow 267"/>
          <p:cNvCxnSpPr/>
          <p:nvPr/>
        </p:nvCxnSpPr>
        <p:spPr>
          <a:xfrm>
            <a:off x="3712464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68" name="Arch 268"/>
          <p:cNvSpPr/>
          <p:nvPr/>
        </p:nvSpPr>
        <p:spPr>
          <a:xfrm>
            <a:off x="3849624" y="141732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TELEMETRY LAYER</a:t>
            </a:r>
          </a:p>
        </p:txBody>
      </p:sp>
      <p:cxnSp>
        <p:nvCxnSpPr>
          <p:cNvPr id="269" name="Arrow 269"/>
          <p:cNvCxnSpPr/>
          <p:nvPr/>
        </p:nvCxnSpPr>
        <p:spPr>
          <a:xfrm>
            <a:off x="4873752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70" name="Arch 270"/>
          <p:cNvSpPr/>
          <p:nvPr/>
        </p:nvSpPr>
        <p:spPr>
          <a:xfrm>
            <a:off x="5010912" y="141732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DIGITAL TWIN</a:t>
            </a:r>
          </a:p>
        </p:txBody>
      </p:sp>
      <p:cxnSp>
        <p:nvCxnSpPr>
          <p:cNvPr id="271" name="Arrow 271"/>
          <p:cNvCxnSpPr/>
          <p:nvPr/>
        </p:nvCxnSpPr>
        <p:spPr>
          <a:xfrm>
            <a:off x="6035040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72" name="Arch 272"/>
          <p:cNvSpPr/>
          <p:nvPr/>
        </p:nvSpPr>
        <p:spPr>
          <a:xfrm>
            <a:off x="6172200" y="141732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ACTUAL vs EXPECTED</a:t>
            </a:r>
          </a:p>
        </p:txBody>
      </p:sp>
      <p:cxnSp>
        <p:nvCxnSpPr>
          <p:cNvPr id="273" name="Arrow 273"/>
          <p:cNvCxnSpPr/>
          <p:nvPr/>
        </p:nvCxnSpPr>
        <p:spPr>
          <a:xfrm>
            <a:off x="7196328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74" name="Arch 274"/>
          <p:cNvSpPr/>
          <p:nvPr/>
        </p:nvSpPr>
        <p:spPr>
          <a:xfrm>
            <a:off x="7333488" y="141732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RESIDUAL /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z-SCORE</a:t>
            </a:r>
          </a:p>
        </p:txBody>
      </p:sp>
      <p:cxnSp>
        <p:nvCxnSpPr>
          <p:cNvPr id="275" name="Arrow 275"/>
          <p:cNvCxnSpPr/>
          <p:nvPr/>
        </p:nvCxnSpPr>
        <p:spPr>
          <a:xfrm>
            <a:off x="8357616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76" name="Arch 276"/>
          <p:cNvSpPr/>
          <p:nvPr/>
        </p:nvSpPr>
        <p:spPr>
          <a:xfrm>
            <a:off x="8494776" y="141732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AI / ML DIAGNOSTICS</a:t>
            </a:r>
          </a:p>
        </p:txBody>
      </p:sp>
      <p:cxnSp>
        <p:nvCxnSpPr>
          <p:cNvPr id="277" name="Arrow 277"/>
          <p:cNvCxnSpPr/>
          <p:nvPr/>
        </p:nvCxnSpPr>
        <p:spPr>
          <a:xfrm>
            <a:off x="9518904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78" name="Arch 278"/>
          <p:cNvSpPr/>
          <p:nvPr/>
        </p:nvSpPr>
        <p:spPr>
          <a:xfrm>
            <a:off x="9656064" y="141732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DEGRADATION &amp; RUL</a:t>
            </a:r>
          </a:p>
        </p:txBody>
      </p:sp>
      <p:cxnSp>
        <p:nvCxnSpPr>
          <p:cNvPr id="279" name="Arrow 279"/>
          <p:cNvCxnSpPr/>
          <p:nvPr/>
        </p:nvCxnSpPr>
        <p:spPr>
          <a:xfrm>
            <a:off x="10680192" y="1700784"/>
            <a:ext cx="11887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280" name="Arch 280"/>
          <p:cNvSpPr/>
          <p:nvPr/>
        </p:nvSpPr>
        <p:spPr>
          <a:xfrm>
            <a:off x="10817352" y="1417320"/>
            <a:ext cx="1005840" cy="566928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DASHBOARD / ADVISORY</a:t>
            </a:r>
          </a:p>
        </p:txBody>
      </p:sp>
      <p:sp>
        <p:nvSpPr>
          <p:cNvPr id="281" name="Header 281"/>
          <p:cNvSpPr/>
          <p:nvPr/>
        </p:nvSpPr>
        <p:spPr>
          <a:xfrm>
            <a:off x="365760" y="2148840"/>
            <a:ext cx="3727704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A. TELEMETRY LAYER</a:t>
            </a:r>
          </a:p>
        </p:txBody>
      </p:sp>
      <p:sp>
        <p:nvSpPr>
          <p:cNvPr id="282" name="Panel 282"/>
          <p:cNvSpPr/>
          <p:nvPr/>
        </p:nvSpPr>
        <p:spPr>
          <a:xfrm>
            <a:off x="365760" y="2404872"/>
            <a:ext cx="3727704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73152" bIns="4572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CAN frame decoding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Signal scaling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Range validation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Missing / stale-frame detection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Standard telemetry schema</a:t>
            </a:r>
          </a:p>
        </p:txBody>
      </p:sp>
      <p:sp>
        <p:nvSpPr>
          <p:cNvPr id="283" name="Badge 283"/>
          <p:cNvSpPr/>
          <p:nvPr/>
        </p:nvSpPr>
        <p:spPr>
          <a:xfrm>
            <a:off x="3828288" y="21671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84" name="Icon 2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179" y="2211019"/>
            <a:ext cx="131674" cy="131674"/>
          </a:xfrm>
          <a:prstGeom prst="rect">
            <a:avLst/>
          </a:prstGeom>
        </p:spPr>
      </p:pic>
      <p:sp>
        <p:nvSpPr>
          <p:cNvPr id="285" name="Label 285"/>
          <p:cNvSpPr txBox="1"/>
          <p:nvPr/>
        </p:nvSpPr>
        <p:spPr>
          <a:xfrm>
            <a:off x="2468880" y="2496312"/>
            <a:ext cx="15148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0070C0"/>
                </a:solidFill>
                <a:latin typeface="Arial"/>
                <a:cs typeface="Arial"/>
              </a:rPr>
              <a:t>CAN 2.0B • 500 kbps</a:t>
            </a:r>
          </a:p>
        </p:txBody>
      </p:sp>
      <p:sp>
        <p:nvSpPr>
          <p:cNvPr id="286" name="CAN id 286"/>
          <p:cNvSpPr/>
          <p:nvPr/>
        </p:nvSpPr>
        <p:spPr>
          <a:xfrm>
            <a:off x="2468880" y="2715768"/>
            <a:ext cx="475488" cy="21945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0x100</a:t>
            </a:r>
          </a:p>
        </p:txBody>
      </p:sp>
      <p:sp>
        <p:nvSpPr>
          <p:cNvPr id="287" name="CAN data 287"/>
          <p:cNvSpPr/>
          <p:nvPr/>
        </p:nvSpPr>
        <p:spPr>
          <a:xfrm>
            <a:off x="2944368" y="2715768"/>
            <a:ext cx="1039368" cy="219456"/>
          </a:xfrm>
          <a:prstGeom prst="rect">
            <a:avLst/>
          </a:prstGeom>
          <a:solidFill>
            <a:srgbClr val="F2F5F9"/>
          </a:solidFill>
          <a:ln w="6350">
            <a:solidFill>
              <a:srgbClr val="B8C2CE"/>
            </a:solidFill>
          </a:ln>
        </p:spPr>
        <p:txBody>
          <a:bodyPr wrap="square" lIns="54864" tIns="0" rIns="18288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Arial"/>
                <a:cs typeface="Arial"/>
              </a:rPr>
              <a:t>RPM • state</a:t>
            </a:r>
          </a:p>
        </p:txBody>
      </p:sp>
      <p:sp>
        <p:nvSpPr>
          <p:cNvPr id="288" name="CAN id 288"/>
          <p:cNvSpPr/>
          <p:nvPr/>
        </p:nvSpPr>
        <p:spPr>
          <a:xfrm>
            <a:off x="2468880" y="2971800"/>
            <a:ext cx="475488" cy="21945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0x101</a:t>
            </a:r>
          </a:p>
        </p:txBody>
      </p:sp>
      <p:sp>
        <p:nvSpPr>
          <p:cNvPr id="289" name="CAN data 289"/>
          <p:cNvSpPr/>
          <p:nvPr/>
        </p:nvSpPr>
        <p:spPr>
          <a:xfrm>
            <a:off x="2944368" y="2971800"/>
            <a:ext cx="1039368" cy="219456"/>
          </a:xfrm>
          <a:prstGeom prst="rect">
            <a:avLst/>
          </a:prstGeom>
          <a:solidFill>
            <a:srgbClr val="F2F5F9"/>
          </a:solidFill>
          <a:ln w="6350">
            <a:solidFill>
              <a:srgbClr val="B8C2CE"/>
            </a:solidFill>
          </a:ln>
        </p:spPr>
        <p:txBody>
          <a:bodyPr wrap="square" lIns="54864" tIns="0" rIns="18288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Arial"/>
                <a:cs typeface="Arial"/>
              </a:rPr>
              <a:t>MAP</a:t>
            </a:r>
          </a:p>
        </p:txBody>
      </p:sp>
      <p:sp>
        <p:nvSpPr>
          <p:cNvPr id="290" name="CAN id 290"/>
          <p:cNvSpPr/>
          <p:nvPr/>
        </p:nvSpPr>
        <p:spPr>
          <a:xfrm>
            <a:off x="2468880" y="3227832"/>
            <a:ext cx="475488" cy="21945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0x102</a:t>
            </a:r>
          </a:p>
        </p:txBody>
      </p:sp>
      <p:sp>
        <p:nvSpPr>
          <p:cNvPr id="291" name="CAN data 291"/>
          <p:cNvSpPr/>
          <p:nvPr/>
        </p:nvSpPr>
        <p:spPr>
          <a:xfrm>
            <a:off x="2944368" y="3227832"/>
            <a:ext cx="1039368" cy="219456"/>
          </a:xfrm>
          <a:prstGeom prst="rect">
            <a:avLst/>
          </a:prstGeom>
          <a:solidFill>
            <a:srgbClr val="F2F5F9"/>
          </a:solidFill>
          <a:ln w="6350">
            <a:solidFill>
              <a:srgbClr val="B8C2CE"/>
            </a:solidFill>
          </a:ln>
        </p:spPr>
        <p:txBody>
          <a:bodyPr wrap="square" lIns="54864" tIns="0" rIns="18288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Arial"/>
                <a:cs typeface="Arial"/>
              </a:rPr>
              <a:t>CHT • EGT</a:t>
            </a:r>
          </a:p>
        </p:txBody>
      </p:sp>
      <p:sp>
        <p:nvSpPr>
          <p:cNvPr id="292" name="CAN id 292"/>
          <p:cNvSpPr/>
          <p:nvPr/>
        </p:nvSpPr>
        <p:spPr>
          <a:xfrm>
            <a:off x="2468880" y="3483864"/>
            <a:ext cx="475488" cy="21945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0x103</a:t>
            </a:r>
          </a:p>
        </p:txBody>
      </p:sp>
      <p:sp>
        <p:nvSpPr>
          <p:cNvPr id="293" name="CAN data 293"/>
          <p:cNvSpPr/>
          <p:nvPr/>
        </p:nvSpPr>
        <p:spPr>
          <a:xfrm>
            <a:off x="2944368" y="3483864"/>
            <a:ext cx="1039368" cy="219456"/>
          </a:xfrm>
          <a:prstGeom prst="rect">
            <a:avLst/>
          </a:prstGeom>
          <a:solidFill>
            <a:srgbClr val="F2F5F9"/>
          </a:solidFill>
          <a:ln w="6350">
            <a:solidFill>
              <a:srgbClr val="B8C2CE"/>
            </a:solidFill>
          </a:ln>
        </p:spPr>
        <p:txBody>
          <a:bodyPr wrap="square" lIns="54864" tIns="0" rIns="18288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Arial"/>
                <a:cs typeface="Arial"/>
              </a:rPr>
              <a:t>Oil P • Oil T</a:t>
            </a:r>
          </a:p>
        </p:txBody>
      </p:sp>
      <p:sp>
        <p:nvSpPr>
          <p:cNvPr id="294" name="CAN id 294"/>
          <p:cNvSpPr/>
          <p:nvPr/>
        </p:nvSpPr>
        <p:spPr>
          <a:xfrm>
            <a:off x="2468880" y="3739896"/>
            <a:ext cx="475488" cy="21945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0x104-5</a:t>
            </a:r>
          </a:p>
        </p:txBody>
      </p:sp>
      <p:sp>
        <p:nvSpPr>
          <p:cNvPr id="295" name="CAN data 295"/>
          <p:cNvSpPr/>
          <p:nvPr/>
        </p:nvSpPr>
        <p:spPr>
          <a:xfrm>
            <a:off x="2944368" y="3739896"/>
            <a:ext cx="1039368" cy="219456"/>
          </a:xfrm>
          <a:prstGeom prst="rect">
            <a:avLst/>
          </a:prstGeom>
          <a:solidFill>
            <a:srgbClr val="F2F5F9"/>
          </a:solidFill>
          <a:ln w="6350">
            <a:solidFill>
              <a:srgbClr val="B8C2CE"/>
            </a:solidFill>
          </a:ln>
        </p:spPr>
        <p:txBody>
          <a:bodyPr wrap="square" lIns="54864" tIns="0" rIns="18288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Arial"/>
                <a:cs typeface="Arial"/>
              </a:rPr>
              <a:t>Fuel • Battery</a:t>
            </a:r>
          </a:p>
        </p:txBody>
      </p:sp>
      <p:sp>
        <p:nvSpPr>
          <p:cNvPr id="296" name="Header 296"/>
          <p:cNvSpPr/>
          <p:nvPr/>
        </p:nvSpPr>
        <p:spPr>
          <a:xfrm>
            <a:off x="4230624" y="2148840"/>
            <a:ext cx="3727704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B. DIGITAL TWIN</a:t>
            </a:r>
          </a:p>
        </p:txBody>
      </p:sp>
      <p:sp>
        <p:nvSpPr>
          <p:cNvPr id="297" name="Panel 297"/>
          <p:cNvSpPr/>
          <p:nvPr/>
        </p:nvSpPr>
        <p:spPr>
          <a:xfrm>
            <a:off x="4230624" y="2404872"/>
            <a:ext cx="3727704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73152" bIns="4572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ISA atmosphere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Load / MAP estimation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Power / torque model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Thermal dynamics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Lubrication / oil behaviour</a:t>
            </a:r>
          </a:p>
          <a:p>
            <a:pPr marL="150000" indent="-150000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dirty="0">
                <a:solidFill>
                  <a:srgbClr val="1F2A44"/>
                </a:solidFill>
                <a:latin typeface="Arial"/>
                <a:cs typeface="Arial"/>
              </a:rPr>
              <a:t>Healthy-state prediction</a:t>
            </a:r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B6675"/>
                </a:solidFill>
                <a:latin typeface="Arial"/>
                <a:cs typeface="Arial"/>
              </a:rPr>
              <a:t>Reference engine class: Rotax 912 S/ULS</a:t>
            </a:r>
          </a:p>
        </p:txBody>
      </p:sp>
      <p:sp>
        <p:nvSpPr>
          <p:cNvPr id="298" name="Badge 298"/>
          <p:cNvSpPr/>
          <p:nvPr/>
        </p:nvSpPr>
        <p:spPr>
          <a:xfrm>
            <a:off x="7693152" y="21671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299" name="Icon 2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7043" y="2211019"/>
            <a:ext cx="131674" cy="131674"/>
          </a:xfrm>
          <a:prstGeom prst="rect">
            <a:avLst/>
          </a:prstGeom>
        </p:spPr>
      </p:pic>
      <p:sp>
        <p:nvSpPr>
          <p:cNvPr id="300" name="Label 300"/>
          <p:cNvSpPr txBox="1"/>
          <p:nvPr/>
        </p:nvSpPr>
        <p:spPr>
          <a:xfrm>
            <a:off x="6333744" y="2496312"/>
            <a:ext cx="15148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0070C0"/>
                </a:solidFill>
                <a:latin typeface="Arial"/>
                <a:cs typeface="Arial"/>
              </a:rPr>
              <a:t>Actual vs Expected</a:t>
            </a:r>
          </a:p>
        </p:txBody>
      </p:sp>
      <p:sp>
        <p:nvSpPr>
          <p:cNvPr id="301" name="Plot 301"/>
          <p:cNvSpPr/>
          <p:nvPr/>
        </p:nvSpPr>
        <p:spPr>
          <a:xfrm>
            <a:off x="6333744" y="2715768"/>
            <a:ext cx="1514856" cy="777240"/>
          </a:xfrm>
          <a:prstGeom prst="rect">
            <a:avLst/>
          </a:prstGeom>
          <a:solidFill>
            <a:srgbClr val="FAFCFE"/>
          </a:solidFill>
          <a:ln w="6350">
            <a:solidFill>
              <a:srgbClr val="B8C2CE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sp>
        <p:nvSpPr>
          <p:cNvPr id="302" name="Curve 302"/>
          <p:cNvSpPr/>
          <p:nvPr/>
        </p:nvSpPr>
        <p:spPr>
          <a:xfrm>
            <a:off x="6379464" y="2761488"/>
            <a:ext cx="1423416" cy="685800"/>
          </a:xfrm>
          <a:custGeom>
            <a:avLst/>
            <a:gdLst/>
            <a:ahLst/>
            <a:cxnLst/>
            <a:rect l="0" t="0" r="r" b="b"/>
            <a:pathLst>
              <a:path w="1423416" h="685800" fill="none">
                <a:moveTo>
                  <a:pt x="0" y="425196"/>
                </a:moveTo>
                <a:lnTo>
                  <a:pt x="284683" y="377190"/>
                </a:lnTo>
                <a:lnTo>
                  <a:pt x="569366" y="342900"/>
                </a:lnTo>
                <a:lnTo>
                  <a:pt x="854049" y="308610"/>
                </a:lnTo>
                <a:lnTo>
                  <a:pt x="1138732" y="274320"/>
                </a:lnTo>
                <a:lnTo>
                  <a:pt x="1423416" y="246888"/>
                </a:lnTo>
              </a:path>
            </a:pathLst>
          </a:custGeom>
          <a:noFill/>
          <a:ln w="15875" cap="rnd">
            <a:solidFill>
              <a:srgbClr val="5B6675"/>
            </a:solidFill>
            <a:prstDash val="dash"/>
            <a:round/>
          </a:ln>
        </p:spPr>
      </p:sp>
      <p:sp>
        <p:nvSpPr>
          <p:cNvPr id="303" name="Curve 303"/>
          <p:cNvSpPr/>
          <p:nvPr/>
        </p:nvSpPr>
        <p:spPr>
          <a:xfrm>
            <a:off x="6379464" y="2761488"/>
            <a:ext cx="1423416" cy="685800"/>
          </a:xfrm>
          <a:custGeom>
            <a:avLst/>
            <a:gdLst/>
            <a:ahLst/>
            <a:cxnLst/>
            <a:rect l="0" t="0" r="r" b="b"/>
            <a:pathLst>
              <a:path w="1423416" h="685800" fill="none">
                <a:moveTo>
                  <a:pt x="0" y="438912"/>
                </a:moveTo>
                <a:lnTo>
                  <a:pt x="284683" y="363474"/>
                </a:lnTo>
                <a:lnTo>
                  <a:pt x="569366" y="356616"/>
                </a:lnTo>
                <a:lnTo>
                  <a:pt x="854049" y="274320"/>
                </a:lnTo>
                <a:lnTo>
                  <a:pt x="1138732" y="178308"/>
                </a:lnTo>
                <a:lnTo>
                  <a:pt x="1423416" y="68580"/>
                </a:lnTo>
              </a:path>
            </a:pathLst>
          </a:custGeom>
          <a:noFill/>
          <a:ln w="22225" cap="rnd">
            <a:solidFill>
              <a:srgbClr val="0070C0"/>
            </a:solidFill>
            <a:round/>
          </a:ln>
        </p:spPr>
      </p:sp>
      <p:sp>
        <p:nvSpPr>
          <p:cNvPr id="304" name="Label 304"/>
          <p:cNvSpPr txBox="1"/>
          <p:nvPr/>
        </p:nvSpPr>
        <p:spPr>
          <a:xfrm>
            <a:off x="6333744" y="3520440"/>
            <a:ext cx="151485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0070C0"/>
                </a:solidFill>
                <a:latin typeface="Arial"/>
                <a:cs typeface="Arial"/>
              </a:rPr>
              <a:t>— Actual   </a:t>
            </a:r>
            <a:r>
              <a:rPr lang="en-US" sz="750" b="1" dirty="0">
                <a:solidFill>
                  <a:srgbClr val="5B6675"/>
                </a:solidFill>
                <a:latin typeface="Arial"/>
                <a:cs typeface="Arial"/>
              </a:rPr>
              <a:t>- - Expected</a:t>
            </a:r>
          </a:p>
        </p:txBody>
      </p:sp>
      <p:sp>
        <p:nvSpPr>
          <p:cNvPr id="305" name="Header 305"/>
          <p:cNvSpPr/>
          <p:nvPr/>
        </p:nvSpPr>
        <p:spPr>
          <a:xfrm>
            <a:off x="8095488" y="2148840"/>
            <a:ext cx="3727704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C. AI / ML DIAGNOSTICS</a:t>
            </a:r>
          </a:p>
        </p:txBody>
      </p:sp>
      <p:sp>
        <p:nvSpPr>
          <p:cNvPr id="306" name="Panel 306"/>
          <p:cNvSpPr/>
          <p:nvPr/>
        </p:nvSpPr>
        <p:spPr>
          <a:xfrm>
            <a:off x="8095488" y="2404872"/>
            <a:ext cx="3727704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64008" rIns="73152" bIns="4572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Residual Generation</a:t>
            </a: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 → Actual − Expected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Filtering / Normalization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Isolation Forest</a:t>
            </a: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 → anomaly detection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Random Forest</a:t>
            </a: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 → fault classification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XAI</a:t>
            </a: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 → evidence / feature attribution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RUL</a:t>
            </a: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 → degradation trend</a:t>
            </a:r>
          </a:p>
        </p:txBody>
      </p:sp>
      <p:sp>
        <p:nvSpPr>
          <p:cNvPr id="307" name="Badge 307"/>
          <p:cNvSpPr/>
          <p:nvPr/>
        </p:nvSpPr>
        <p:spPr>
          <a:xfrm>
            <a:off x="11558016" y="21671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08" name="Icon 3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1907" y="2211019"/>
            <a:ext cx="131674" cy="131674"/>
          </a:xfrm>
          <a:prstGeom prst="rect">
            <a:avLst/>
          </a:prstGeom>
        </p:spPr>
      </p:pic>
      <p:sp>
        <p:nvSpPr>
          <p:cNvPr id="309" name="Plot 309"/>
          <p:cNvSpPr/>
          <p:nvPr/>
        </p:nvSpPr>
        <p:spPr>
          <a:xfrm>
            <a:off x="8205216" y="3447288"/>
            <a:ext cx="3508248" cy="365760"/>
          </a:xfrm>
          <a:prstGeom prst="rect">
            <a:avLst/>
          </a:prstGeom>
          <a:solidFill>
            <a:srgbClr val="FAFCFE"/>
          </a:solidFill>
          <a:ln w="6350">
            <a:solidFill>
              <a:srgbClr val="B8C2CE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sp>
        <p:nvSpPr>
          <p:cNvPr id="310" name="Curve 310"/>
          <p:cNvSpPr/>
          <p:nvPr/>
        </p:nvSpPr>
        <p:spPr>
          <a:xfrm>
            <a:off x="8232648" y="3538728"/>
            <a:ext cx="3453384" cy="914"/>
          </a:xfrm>
          <a:custGeom>
            <a:avLst/>
            <a:gdLst/>
            <a:ahLst/>
            <a:cxnLst/>
            <a:rect l="0" t="0" r="r" b="b"/>
            <a:pathLst>
              <a:path w="3453384" h="914" fill="none">
                <a:moveTo>
                  <a:pt x="0" y="0"/>
                </a:moveTo>
                <a:lnTo>
                  <a:pt x="3453384" y="0"/>
                </a:lnTo>
              </a:path>
            </a:pathLst>
          </a:custGeom>
          <a:noFill/>
          <a:ln w="9525" cap="rnd">
            <a:solidFill>
              <a:srgbClr val="C00000"/>
            </a:solidFill>
            <a:prstDash val="dash"/>
            <a:round/>
          </a:ln>
        </p:spPr>
      </p:sp>
      <p:sp>
        <p:nvSpPr>
          <p:cNvPr id="311" name="Curve 311"/>
          <p:cNvSpPr/>
          <p:nvPr/>
        </p:nvSpPr>
        <p:spPr>
          <a:xfrm>
            <a:off x="8232648" y="3721608"/>
            <a:ext cx="3453384" cy="914"/>
          </a:xfrm>
          <a:custGeom>
            <a:avLst/>
            <a:gdLst/>
            <a:ahLst/>
            <a:cxnLst/>
            <a:rect l="0" t="0" r="r" b="b"/>
            <a:pathLst>
              <a:path w="3453384" h="914" fill="none">
                <a:moveTo>
                  <a:pt x="0" y="0"/>
                </a:moveTo>
                <a:lnTo>
                  <a:pt x="3453384" y="0"/>
                </a:lnTo>
              </a:path>
            </a:pathLst>
          </a:custGeom>
          <a:noFill/>
          <a:ln w="9525" cap="rnd">
            <a:solidFill>
              <a:srgbClr val="C00000"/>
            </a:solidFill>
            <a:prstDash val="dash"/>
            <a:round/>
          </a:ln>
        </p:spPr>
      </p:sp>
      <p:sp>
        <p:nvSpPr>
          <p:cNvPr id="312" name="Curve 312"/>
          <p:cNvSpPr/>
          <p:nvPr/>
        </p:nvSpPr>
        <p:spPr>
          <a:xfrm>
            <a:off x="8250936" y="3474720"/>
            <a:ext cx="3416808" cy="310896"/>
          </a:xfrm>
          <a:custGeom>
            <a:avLst/>
            <a:gdLst/>
            <a:ahLst/>
            <a:cxnLst/>
            <a:rect l="0" t="0" r="r" b="b"/>
            <a:pathLst>
              <a:path w="3416808" h="310896" fill="none">
                <a:moveTo>
                  <a:pt x="0" y="161665"/>
                </a:moveTo>
                <a:lnTo>
                  <a:pt x="273344" y="139903"/>
                </a:lnTo>
                <a:lnTo>
                  <a:pt x="546689" y="170992"/>
                </a:lnTo>
                <a:lnTo>
                  <a:pt x="820033" y="149230"/>
                </a:lnTo>
                <a:lnTo>
                  <a:pt x="1093378" y="164774"/>
                </a:lnTo>
                <a:lnTo>
                  <a:pt x="1366723" y="136794"/>
                </a:lnTo>
                <a:lnTo>
                  <a:pt x="1640067" y="155448"/>
                </a:lnTo>
                <a:lnTo>
                  <a:pt x="1913412" y="124358"/>
                </a:lnTo>
                <a:lnTo>
                  <a:pt x="2186757" y="102595"/>
                </a:lnTo>
                <a:lnTo>
                  <a:pt x="2460101" y="68397"/>
                </a:lnTo>
                <a:lnTo>
                  <a:pt x="2733446" y="31089"/>
                </a:lnTo>
                <a:lnTo>
                  <a:pt x="3075127" y="12435"/>
                </a:lnTo>
                <a:lnTo>
                  <a:pt x="3416808" y="6217"/>
                </a:lnTo>
              </a:path>
            </a:pathLst>
          </a:custGeom>
          <a:noFill/>
          <a:ln w="19050" cap="rnd">
            <a:solidFill>
              <a:srgbClr val="0070C0"/>
            </a:solidFill>
            <a:round/>
          </a:ln>
        </p:spPr>
      </p:sp>
      <p:sp>
        <p:nvSpPr>
          <p:cNvPr id="313" name="Dot 313"/>
          <p:cNvSpPr/>
          <p:nvPr/>
        </p:nvSpPr>
        <p:spPr>
          <a:xfrm>
            <a:off x="11016143" y="3466125"/>
            <a:ext cx="73152" cy="7315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sp>
        <p:nvSpPr>
          <p:cNvPr id="314" name="Label 314"/>
          <p:cNvSpPr txBox="1"/>
          <p:nvPr/>
        </p:nvSpPr>
        <p:spPr>
          <a:xfrm>
            <a:off x="8205216" y="3831336"/>
            <a:ext cx="182880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5B6675"/>
                </a:solidFill>
                <a:latin typeface="Arial"/>
                <a:cs typeface="Arial"/>
              </a:rPr>
              <a:t>z-score residual (illustrative)</a:t>
            </a:r>
          </a:p>
        </p:txBody>
      </p:sp>
      <p:sp>
        <p:nvSpPr>
          <p:cNvPr id="315" name="Label 315"/>
          <p:cNvSpPr txBox="1"/>
          <p:nvPr/>
        </p:nvSpPr>
        <p:spPr>
          <a:xfrm>
            <a:off x="10890504" y="3831336"/>
            <a:ext cx="82296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dirty="0">
                <a:solidFill>
                  <a:srgbClr val="C00000"/>
                </a:solidFill>
                <a:latin typeface="Arial"/>
                <a:cs typeface="Arial"/>
              </a:rPr>
              <a:t>dashed = ±3σ</a:t>
            </a:r>
          </a:p>
        </p:txBody>
      </p:sp>
      <p:sp>
        <p:nvSpPr>
          <p:cNvPr id="316" name="Equations 316"/>
          <p:cNvSpPr/>
          <p:nvPr/>
        </p:nvSpPr>
        <p:spPr>
          <a:xfrm>
            <a:off x="365760" y="4114800"/>
            <a:ext cx="11457432" cy="310896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Arial"/>
                <a:cs typeface="Arial"/>
              </a:rPr>
              <a:t>Residual = Actual − Expected</a:t>
            </a:r>
            <a:r>
              <a:rPr lang="en-US" sz="1200" dirty="0">
                <a:solidFill>
                  <a:srgbClr val="B8C2CE"/>
                </a:solidFill>
                <a:latin typeface="Arial"/>
                <a:cs typeface="Arial"/>
              </a:rPr>
              <a:t>          |          </a:t>
            </a:r>
            <a:r>
              <a:rPr lang="en-US" sz="1200" b="1" dirty="0">
                <a:solidFill>
                  <a:srgbClr val="0B2545"/>
                </a:solidFill>
                <a:latin typeface="Arial"/>
                <a:cs typeface="Arial"/>
              </a:rPr>
              <a:t>z = (Actual − Expected) / σbaseline</a:t>
            </a:r>
          </a:p>
        </p:txBody>
      </p:sp>
      <p:sp>
        <p:nvSpPr>
          <p:cNvPr id="317" name="Label 317"/>
          <p:cNvSpPr txBox="1"/>
          <p:nvPr/>
        </p:nvSpPr>
        <p:spPr>
          <a:xfrm>
            <a:off x="365760" y="4526280"/>
            <a:ext cx="11457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Arial"/>
                <a:cs typeface="Arial"/>
              </a:rPr>
              <a:t>WORKING SOFTWARE PROTOTYPE</a:t>
            </a:r>
          </a:p>
        </p:txBody>
      </p:sp>
      <p:sp>
        <p:nvSpPr>
          <p:cNvPr id="319" name="Label 319"/>
          <p:cNvSpPr txBox="1"/>
          <p:nvPr/>
        </p:nvSpPr>
        <p:spPr>
          <a:xfrm>
            <a:off x="365760" y="5980176"/>
            <a:ext cx="279577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/>
                <a:cs typeface="Arial"/>
              </a:rPr>
              <a:t>1. Live Engine Telemetry</a:t>
            </a:r>
          </a:p>
        </p:txBody>
      </p:sp>
      <p:sp>
        <p:nvSpPr>
          <p:cNvPr id="321" name="Label 321"/>
          <p:cNvSpPr txBox="1"/>
          <p:nvPr/>
        </p:nvSpPr>
        <p:spPr>
          <a:xfrm>
            <a:off x="3252978" y="5980176"/>
            <a:ext cx="279577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/>
                <a:cs typeface="Arial"/>
              </a:rPr>
              <a:t>2. Actual vs Digital Twin</a:t>
            </a:r>
          </a:p>
        </p:txBody>
      </p:sp>
      <p:sp>
        <p:nvSpPr>
          <p:cNvPr id="323" name="Label 323"/>
          <p:cNvSpPr txBox="1"/>
          <p:nvPr/>
        </p:nvSpPr>
        <p:spPr>
          <a:xfrm>
            <a:off x="6140196" y="5980176"/>
            <a:ext cx="279577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/>
                <a:cs typeface="Arial"/>
              </a:rPr>
              <a:t>3. Residual / Anomaly Detection</a:t>
            </a:r>
          </a:p>
        </p:txBody>
      </p:sp>
      <p:sp>
        <p:nvSpPr>
          <p:cNvPr id="325" name="Label 325"/>
          <p:cNvSpPr txBox="1"/>
          <p:nvPr/>
        </p:nvSpPr>
        <p:spPr>
          <a:xfrm>
            <a:off x="9027414" y="5980176"/>
            <a:ext cx="279577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/>
                <a:cs typeface="Arial"/>
              </a:rPr>
              <a:t>4. Fault Classification + RUL</a:t>
            </a:r>
          </a:p>
        </p:txBody>
      </p:sp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773168"/>
            <a:ext cx="2795778" cy="1170432"/>
          </a:xfrm>
          <a:prstGeom prst="rect">
            <a:avLst/>
          </a:prstGeom>
        </p:spPr>
      </p:pic>
      <p:pic>
        <p:nvPicPr>
          <p:cNvPr id="17411" name="Picture 17410" descr="dashboard_light_mode_seed100_17907387517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2978" y="4773168"/>
            <a:ext cx="2795778" cy="1170432"/>
          </a:xfrm>
          <a:prstGeom prst="rect">
            <a:avLst/>
          </a:prstGeom>
        </p:spPr>
      </p:pic>
      <p:pic>
        <p:nvPicPr>
          <p:cNvPr id="17412" name="Picture 17411" descr="can_bus_transport_179074276484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0196" y="4773168"/>
            <a:ext cx="2795778" cy="1170432"/>
          </a:xfrm>
          <a:prstGeom prst="rect">
            <a:avLst/>
          </a:prstGeom>
        </p:spPr>
      </p:pic>
      <p:pic>
        <p:nvPicPr>
          <p:cNvPr id="17413" name="Picture 17412" descr="white_dashboard_ui_179073883852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7414" y="4773168"/>
            <a:ext cx="2795778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998" y="60000"/>
            <a:ext cx="10972800" cy="600000"/>
          </a:xfrm>
        </p:spPr>
        <p:txBody>
          <a:bodyPr anchor="ctr">
            <a:normAutofit/>
          </a:bodyPr>
          <a:lstStyle/>
          <a:p>
            <a:pPr algn="ctr"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Team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HYDROVEX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26" name="Subtitle 326"/>
          <p:cNvSpPr txBox="1"/>
          <p:nvPr/>
        </p:nvSpPr>
        <p:spPr>
          <a:xfrm>
            <a:off x="182880" y="6583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0C0"/>
                </a:solidFill>
                <a:latin typeface="Arial"/>
                <a:cs typeface="Arial"/>
              </a:rPr>
              <a:t>Implementation Status, Technical Risks and Deployment Roadmap</a:t>
            </a:r>
          </a:p>
        </p:txBody>
      </p:sp>
      <p:sp>
        <p:nvSpPr>
          <p:cNvPr id="327" name="Label 327"/>
          <p:cNvSpPr txBox="1"/>
          <p:nvPr/>
        </p:nvSpPr>
        <p:spPr>
          <a:xfrm>
            <a:off x="365760" y="116128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Arial"/>
                <a:cs typeface="Arial"/>
              </a:rPr>
              <a:t>A. CURRENT IMPLEMENTATION</a:t>
            </a:r>
          </a:p>
        </p:txBody>
      </p:sp>
      <p:graphicFrame>
        <p:nvGraphicFramePr>
          <p:cNvPr id="328" name="Table 328"/>
          <p:cNvGraphicFramePr>
            <a:graphicFrameLocks noGrp="1"/>
          </p:cNvGraphicFramePr>
          <p:nvPr/>
        </p:nvGraphicFramePr>
        <p:xfrm>
          <a:off x="365760" y="1444752"/>
          <a:ext cx="4206240" cy="2450592"/>
        </p:xfrm>
        <a:graphic>
          <a:graphicData uri="http://schemas.openxmlformats.org/drawingml/2006/table">
            <a:tbl>
              <a:tblPr firstRow="1"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Current Status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Physics-based engine model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Implemented — 13-channel physics twin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Virtual ECU / FADEC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Implemented — State machine &amp; DTC BIST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CAN telemetry layer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Implemented — 8 CAN 2.0B frames (0x100-0x107)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Diagnostic pipeline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Implemented — Dual-stage IF+RF + OLS RUL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Dashboard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Working software GCS dashboard UI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Mission simulation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Implemented — 5 dynamic flight profiles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Automated validation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 holdout mission seeds (500–599)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9" name="Badge 329"/>
          <p:cNvSpPr/>
          <p:nvPr/>
        </p:nvSpPr>
        <p:spPr>
          <a:xfrm>
            <a:off x="4279392" y="1812798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30" name="Icon 3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849374"/>
            <a:ext cx="109728" cy="109728"/>
          </a:xfrm>
          <a:prstGeom prst="rect">
            <a:avLst/>
          </a:prstGeom>
        </p:spPr>
      </p:pic>
      <p:sp>
        <p:nvSpPr>
          <p:cNvPr id="331" name="Badge 331"/>
          <p:cNvSpPr/>
          <p:nvPr/>
        </p:nvSpPr>
        <p:spPr>
          <a:xfrm>
            <a:off x="4279392" y="2119122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32" name="Icon 3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155698"/>
            <a:ext cx="109728" cy="109728"/>
          </a:xfrm>
          <a:prstGeom prst="rect">
            <a:avLst/>
          </a:prstGeom>
        </p:spPr>
      </p:pic>
      <p:sp>
        <p:nvSpPr>
          <p:cNvPr id="333" name="Badge 333"/>
          <p:cNvSpPr/>
          <p:nvPr/>
        </p:nvSpPr>
        <p:spPr>
          <a:xfrm>
            <a:off x="4279392" y="2425446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34" name="Icon 3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462022"/>
            <a:ext cx="109728" cy="109728"/>
          </a:xfrm>
          <a:prstGeom prst="rect">
            <a:avLst/>
          </a:prstGeom>
        </p:spPr>
      </p:pic>
      <p:sp>
        <p:nvSpPr>
          <p:cNvPr id="335" name="Badge 335"/>
          <p:cNvSpPr/>
          <p:nvPr/>
        </p:nvSpPr>
        <p:spPr>
          <a:xfrm>
            <a:off x="4279392" y="273177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36" name="Icon 3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768346"/>
            <a:ext cx="109728" cy="109728"/>
          </a:xfrm>
          <a:prstGeom prst="rect">
            <a:avLst/>
          </a:prstGeom>
        </p:spPr>
      </p:pic>
      <p:sp>
        <p:nvSpPr>
          <p:cNvPr id="337" name="Badge 337"/>
          <p:cNvSpPr/>
          <p:nvPr/>
        </p:nvSpPr>
        <p:spPr>
          <a:xfrm>
            <a:off x="4279392" y="3038094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38" name="Icon 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074670"/>
            <a:ext cx="109728" cy="109728"/>
          </a:xfrm>
          <a:prstGeom prst="rect">
            <a:avLst/>
          </a:prstGeom>
        </p:spPr>
      </p:pic>
      <p:sp>
        <p:nvSpPr>
          <p:cNvPr id="339" name="Badge 339"/>
          <p:cNvSpPr/>
          <p:nvPr/>
        </p:nvSpPr>
        <p:spPr>
          <a:xfrm>
            <a:off x="4279392" y="3344418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40" name="Icon 3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380994"/>
            <a:ext cx="109728" cy="109728"/>
          </a:xfrm>
          <a:prstGeom prst="rect">
            <a:avLst/>
          </a:prstGeom>
        </p:spPr>
      </p:pic>
      <p:sp>
        <p:nvSpPr>
          <p:cNvPr id="341" name="Badge 341"/>
          <p:cNvSpPr/>
          <p:nvPr/>
        </p:nvSpPr>
        <p:spPr>
          <a:xfrm>
            <a:off x="4279392" y="3650742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42" name="Icon 3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687318"/>
            <a:ext cx="109728" cy="109728"/>
          </a:xfrm>
          <a:prstGeom prst="rect">
            <a:avLst/>
          </a:prstGeom>
        </p:spPr>
      </p:pic>
      <p:sp>
        <p:nvSpPr>
          <p:cNvPr id="343" name="Label 343"/>
          <p:cNvSpPr txBox="1"/>
          <p:nvPr/>
        </p:nvSpPr>
        <p:spPr>
          <a:xfrm>
            <a:off x="4754880" y="116128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Arial"/>
                <a:cs typeface="Arial"/>
              </a:rPr>
              <a:t>B. KEY TECHNICAL RISKS &amp; MITIGATIONS</a:t>
            </a:r>
          </a:p>
        </p:txBody>
      </p:sp>
      <p:sp>
        <p:nvSpPr>
          <p:cNvPr id="344" name="Risk 344"/>
          <p:cNvSpPr/>
          <p:nvPr/>
        </p:nvSpPr>
        <p:spPr>
          <a:xfrm>
            <a:off x="4754880" y="1444752"/>
            <a:ext cx="3474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64008" rIns="457200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1. Limited real engine degradation data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8641A"/>
                </a:solidFill>
                <a:latin typeface="Arial"/>
                <a:cs typeface="Arial"/>
              </a:rPr>
              <a:t>Risk: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AI and RUL reliability depends on representative degradation data.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070C0"/>
                </a:solidFill>
                <a:latin typeface="Arial"/>
                <a:cs typeface="Arial"/>
              </a:rPr>
              <a:t>Mitigation: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Engine test-rig data + controlled fault experiments + recalibration.</a:t>
            </a:r>
          </a:p>
        </p:txBody>
      </p:sp>
      <p:sp>
        <p:nvSpPr>
          <p:cNvPr id="345" name="Badge 345"/>
          <p:cNvSpPr/>
          <p:nvPr/>
        </p:nvSpPr>
        <p:spPr>
          <a:xfrm>
            <a:off x="7863840" y="1527048"/>
            <a:ext cx="274320" cy="27432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46" name="Icon 3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5562" y="1588770"/>
            <a:ext cx="150876" cy="150876"/>
          </a:xfrm>
          <a:prstGeom prst="rect">
            <a:avLst/>
          </a:prstGeom>
        </p:spPr>
      </p:pic>
      <p:sp>
        <p:nvSpPr>
          <p:cNvPr id="347" name="Risk 347"/>
          <p:cNvSpPr/>
          <p:nvPr/>
        </p:nvSpPr>
        <p:spPr>
          <a:xfrm>
            <a:off x="8348472" y="1444752"/>
            <a:ext cx="3474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64008" rIns="457200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2. Physics-model mismatch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8641A"/>
                </a:solidFill>
                <a:latin typeface="Arial"/>
                <a:cs typeface="Arial"/>
              </a:rPr>
              <a:t>Risk: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Actual engines may deviate from the simplified model.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070C0"/>
                </a:solidFill>
                <a:latin typeface="Arial"/>
                <a:cs typeface="Arial"/>
              </a:rPr>
              <a:t>Mitigation: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Parameter tuning against measured engine data.</a:t>
            </a:r>
          </a:p>
        </p:txBody>
      </p:sp>
      <p:sp>
        <p:nvSpPr>
          <p:cNvPr id="348" name="Badge 348"/>
          <p:cNvSpPr/>
          <p:nvPr/>
        </p:nvSpPr>
        <p:spPr>
          <a:xfrm>
            <a:off x="11457432" y="1527048"/>
            <a:ext cx="274320" cy="27432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49" name="Icon 3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9154" y="1588770"/>
            <a:ext cx="150876" cy="150876"/>
          </a:xfrm>
          <a:prstGeom prst="rect">
            <a:avLst/>
          </a:prstGeom>
        </p:spPr>
      </p:pic>
      <p:sp>
        <p:nvSpPr>
          <p:cNvPr id="350" name="Risk 350"/>
          <p:cNvSpPr/>
          <p:nvPr/>
        </p:nvSpPr>
        <p:spPr>
          <a:xfrm>
            <a:off x="4754880" y="2688336"/>
            <a:ext cx="3474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64008" rIns="457200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3. CAN / sensor failure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8641A"/>
                </a:solidFill>
                <a:latin typeface="Arial"/>
                <a:cs typeface="Arial"/>
              </a:rPr>
              <a:t>Risk: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Missing/corrupted telemetry can affect diagnosis.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070C0"/>
                </a:solidFill>
                <a:latin typeface="Arial"/>
                <a:cs typeface="Arial"/>
              </a:rPr>
              <a:t>Mitigation: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Range checking + stale/missing-data detection + communication monitoring.</a:t>
            </a:r>
          </a:p>
        </p:txBody>
      </p:sp>
      <p:sp>
        <p:nvSpPr>
          <p:cNvPr id="351" name="Badge 351"/>
          <p:cNvSpPr/>
          <p:nvPr/>
        </p:nvSpPr>
        <p:spPr>
          <a:xfrm>
            <a:off x="7863840" y="2770632"/>
            <a:ext cx="274320" cy="27432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52" name="Icon 3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5562" y="2832354"/>
            <a:ext cx="150876" cy="150876"/>
          </a:xfrm>
          <a:prstGeom prst="rect">
            <a:avLst/>
          </a:prstGeom>
        </p:spPr>
      </p:pic>
      <p:sp>
        <p:nvSpPr>
          <p:cNvPr id="353" name="Risk 353"/>
          <p:cNvSpPr/>
          <p:nvPr/>
        </p:nvSpPr>
        <p:spPr>
          <a:xfrm>
            <a:off x="8348472" y="2688336"/>
            <a:ext cx="3474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64008" rIns="457200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4. Edge compute limits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8641A"/>
                </a:solidFill>
                <a:latin typeface="Arial"/>
                <a:cs typeface="Arial"/>
              </a:rPr>
              <a:t>Risk: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Onboard hardware has limited compute/power budget.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070C0"/>
                </a:solidFill>
                <a:latin typeface="Arial"/>
                <a:cs typeface="Arial"/>
              </a:rPr>
              <a:t>Mitigation: </a:t>
            </a:r>
            <a:r>
              <a:rPr lang="en-US" sz="1050" dirty="0">
                <a:solidFill>
                  <a:srgbClr val="1F2A44"/>
                </a:solidFill>
                <a:latin typeface="Arial"/>
                <a:cs typeface="Arial"/>
              </a:rPr>
              <a:t>Lightweight inference + edge/GCS split.</a:t>
            </a:r>
          </a:p>
        </p:txBody>
      </p:sp>
      <p:sp>
        <p:nvSpPr>
          <p:cNvPr id="354" name="Badge 354"/>
          <p:cNvSpPr/>
          <p:nvPr/>
        </p:nvSpPr>
        <p:spPr>
          <a:xfrm>
            <a:off x="11457432" y="2770632"/>
            <a:ext cx="274320" cy="27432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55" name="Icon 3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9154" y="2832354"/>
            <a:ext cx="150876" cy="150876"/>
          </a:xfrm>
          <a:prstGeom prst="rect">
            <a:avLst/>
          </a:prstGeom>
        </p:spPr>
      </p:pic>
      <p:sp>
        <p:nvSpPr>
          <p:cNvPr id="356" name="Label 356"/>
          <p:cNvSpPr txBox="1"/>
          <p:nvPr/>
        </p:nvSpPr>
        <p:spPr>
          <a:xfrm>
            <a:off x="365760" y="41148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Arial"/>
                <a:cs typeface="Arial"/>
              </a:rPr>
              <a:t>C. VALIDATION</a:t>
            </a:r>
            <a:r>
              <a:rPr lang="en-US" sz="900" i="1" dirty="0">
                <a:solidFill>
                  <a:srgbClr val="5B6675"/>
                </a:solidFill>
                <a:latin typeface="Arial"/>
                <a:cs typeface="Arial"/>
              </a:rPr>
              <a:t>  software / simulation prototype</a:t>
            </a:r>
          </a:p>
        </p:txBody>
      </p:sp>
      <p:sp>
        <p:nvSpPr>
          <p:cNvPr id="357" name="Metric 357"/>
          <p:cNvSpPr/>
          <p:nvPr/>
        </p:nvSpPr>
        <p:spPr>
          <a:xfrm>
            <a:off x="365760" y="4407408"/>
            <a:ext cx="996696" cy="960120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  <a:defRPr sz="2000" b="1"/>
            </a:pPr>
            <a:r>
              <a:t>99.84%</a:t>
            </a:r>
          </a:p>
          <a:p>
            <a:pPr>
              <a:defRPr sz="900"/>
            </a:pPr>
            <a:r>
              <a:t>Holdout Classification Accuracy</a:t>
            </a:r>
          </a:p>
        </p:txBody>
      </p:sp>
      <p:sp>
        <p:nvSpPr>
          <p:cNvPr id="358" name="Metric 358"/>
          <p:cNvSpPr/>
          <p:nvPr/>
        </p:nvSpPr>
        <p:spPr>
          <a:xfrm>
            <a:off x="1435608" y="4407408"/>
            <a:ext cx="996696" cy="960120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  <a:defRPr sz="2000" b="1"/>
            </a:pPr>
            <a:r>
              <a:t>10</a:t>
            </a:r>
          </a:p>
          <a:p>
            <a:pPr>
              <a:defRPr sz="900"/>
            </a:pPr>
            <a:r>
              <a:t>State Classes (Healthy + 9 Faults)</a:t>
            </a:r>
          </a:p>
        </p:txBody>
      </p:sp>
      <p:sp>
        <p:nvSpPr>
          <p:cNvPr id="359" name="Metric 359"/>
          <p:cNvSpPr/>
          <p:nvPr/>
        </p:nvSpPr>
        <p:spPr>
          <a:xfrm>
            <a:off x="2505456" y="4407408"/>
            <a:ext cx="996696" cy="960120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  <a:defRPr sz="2000" b="1"/>
            </a:pPr>
            <a:r>
              <a:t>0.0 / hr</a:t>
            </a:r>
          </a:p>
          <a:p>
            <a:pPr>
              <a:defRPr sz="900"/>
            </a:pPr>
            <a:r>
              <a:t>Healthy False Alarm Rate</a:t>
            </a:r>
          </a:p>
        </p:txBody>
      </p:sp>
      <p:sp>
        <p:nvSpPr>
          <p:cNvPr id="360" name="Metric 360"/>
          <p:cNvSpPr/>
          <p:nvPr/>
        </p:nvSpPr>
        <p:spPr>
          <a:xfrm>
            <a:off x="3575304" y="4407408"/>
            <a:ext cx="996696" cy="960120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  <a:defRPr sz="2000" b="1"/>
            </a:pPr>
            <a:r>
              <a:t>0.91 min</a:t>
            </a:r>
          </a:p>
          <a:p>
            <a:pPr>
              <a:defRPr sz="900"/>
            </a:pPr>
            <a:r>
              <a:t>Mean Absolute RUL Error</a:t>
            </a:r>
          </a:p>
        </p:txBody>
      </p:sp>
      <p:sp>
        <p:nvSpPr>
          <p:cNvPr id="361" name="Label 361"/>
          <p:cNvSpPr txBox="1"/>
          <p:nvPr/>
        </p:nvSpPr>
        <p:spPr>
          <a:xfrm>
            <a:off x="365760" y="539496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C8641A"/>
                </a:solidFill>
                <a:latin typeface="Arial"/>
                <a:cs typeface="Arial"/>
              </a:rPr>
              <a:t>Not flight certification.</a:t>
            </a:r>
          </a:p>
        </p:txBody>
      </p:sp>
      <p:sp>
        <p:nvSpPr>
          <p:cNvPr id="362" name="Label 362"/>
          <p:cNvSpPr txBox="1"/>
          <p:nvPr/>
        </p:nvSpPr>
        <p:spPr>
          <a:xfrm>
            <a:off x="4754880" y="4114800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Arial"/>
                <a:cs typeface="Arial"/>
              </a:rPr>
              <a:t>D. DEPLOYMENT PATH</a:t>
            </a:r>
          </a:p>
        </p:txBody>
      </p:sp>
      <p:sp>
        <p:nvSpPr>
          <p:cNvPr id="363" name="Phase 363"/>
          <p:cNvSpPr/>
          <p:nvPr/>
        </p:nvSpPr>
        <p:spPr>
          <a:xfrm>
            <a:off x="4754880" y="4407408"/>
            <a:ext cx="1280160" cy="109728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82296" tIns="82296" rIns="54864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PHASE 1 — CURRENT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Simulation + software prototype</a:t>
            </a:r>
          </a:p>
        </p:txBody>
      </p:sp>
      <p:sp>
        <p:nvSpPr>
          <p:cNvPr id="364" name="Badge 364"/>
          <p:cNvSpPr/>
          <p:nvPr/>
        </p:nvSpPr>
        <p:spPr>
          <a:xfrm>
            <a:off x="5669280" y="5138928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65" name="Icon 3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5117" y="5204765"/>
            <a:ext cx="160934" cy="160934"/>
          </a:xfrm>
          <a:prstGeom prst="rect">
            <a:avLst/>
          </a:prstGeom>
        </p:spPr>
      </p:pic>
      <p:cxnSp>
        <p:nvCxnSpPr>
          <p:cNvPr id="366" name="Arrow 366"/>
          <p:cNvCxnSpPr/>
          <p:nvPr/>
        </p:nvCxnSpPr>
        <p:spPr>
          <a:xfrm>
            <a:off x="6053328" y="4956048"/>
            <a:ext cx="13030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367" name="Phase 367"/>
          <p:cNvSpPr/>
          <p:nvPr/>
        </p:nvSpPr>
        <p:spPr>
          <a:xfrm>
            <a:off x="6201918" y="4407408"/>
            <a:ext cx="1280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82296" tIns="82296" rIns="54864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Arial"/>
                <a:cs typeface="Arial"/>
              </a:rPr>
              <a:t>PHASE 2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Engine test-rig integration</a:t>
            </a:r>
          </a:p>
        </p:txBody>
      </p:sp>
      <p:sp>
        <p:nvSpPr>
          <p:cNvPr id="368" name="Badge 368"/>
          <p:cNvSpPr/>
          <p:nvPr/>
        </p:nvSpPr>
        <p:spPr>
          <a:xfrm>
            <a:off x="7116318" y="5138928"/>
            <a:ext cx="292608" cy="29260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69" name="Icon 36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2155" y="5204765"/>
            <a:ext cx="160934" cy="160934"/>
          </a:xfrm>
          <a:prstGeom prst="rect">
            <a:avLst/>
          </a:prstGeom>
        </p:spPr>
      </p:pic>
      <p:cxnSp>
        <p:nvCxnSpPr>
          <p:cNvPr id="370" name="Arrow 370"/>
          <p:cNvCxnSpPr/>
          <p:nvPr/>
        </p:nvCxnSpPr>
        <p:spPr>
          <a:xfrm>
            <a:off x="7500366" y="4956048"/>
            <a:ext cx="13030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371" name="Phase 371"/>
          <p:cNvSpPr/>
          <p:nvPr/>
        </p:nvSpPr>
        <p:spPr>
          <a:xfrm>
            <a:off x="7648956" y="4407408"/>
            <a:ext cx="1280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82296" tIns="82296" rIns="54864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Arial"/>
                <a:cs typeface="Arial"/>
              </a:rPr>
              <a:t>PHASE 3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Real ECU + CAN / HIL</a:t>
            </a:r>
          </a:p>
        </p:txBody>
      </p:sp>
      <p:sp>
        <p:nvSpPr>
          <p:cNvPr id="372" name="Badge 372"/>
          <p:cNvSpPr/>
          <p:nvPr/>
        </p:nvSpPr>
        <p:spPr>
          <a:xfrm>
            <a:off x="8563356" y="5138928"/>
            <a:ext cx="292608" cy="29260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73" name="Icon 37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9193" y="5204765"/>
            <a:ext cx="160934" cy="160934"/>
          </a:xfrm>
          <a:prstGeom prst="rect">
            <a:avLst/>
          </a:prstGeom>
        </p:spPr>
      </p:pic>
      <p:cxnSp>
        <p:nvCxnSpPr>
          <p:cNvPr id="374" name="Arrow 374"/>
          <p:cNvCxnSpPr/>
          <p:nvPr/>
        </p:nvCxnSpPr>
        <p:spPr>
          <a:xfrm>
            <a:off x="8947404" y="4956048"/>
            <a:ext cx="13030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375" name="Phase 375"/>
          <p:cNvSpPr/>
          <p:nvPr/>
        </p:nvSpPr>
        <p:spPr>
          <a:xfrm>
            <a:off x="9095994" y="4407408"/>
            <a:ext cx="1280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82296" tIns="82296" rIns="54864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Arial"/>
                <a:cs typeface="Arial"/>
              </a:rPr>
              <a:t>PHASE 4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UAV edge / GCS deployment</a:t>
            </a:r>
          </a:p>
        </p:txBody>
      </p:sp>
      <p:sp>
        <p:nvSpPr>
          <p:cNvPr id="376" name="Badge 376"/>
          <p:cNvSpPr/>
          <p:nvPr/>
        </p:nvSpPr>
        <p:spPr>
          <a:xfrm>
            <a:off x="10010394" y="5138928"/>
            <a:ext cx="292608" cy="29260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77" name="Icon 37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6231" y="5204765"/>
            <a:ext cx="160934" cy="160934"/>
          </a:xfrm>
          <a:prstGeom prst="rect">
            <a:avLst/>
          </a:prstGeom>
        </p:spPr>
      </p:pic>
      <p:cxnSp>
        <p:nvCxnSpPr>
          <p:cNvPr id="378" name="Arrow 378"/>
          <p:cNvCxnSpPr/>
          <p:nvPr/>
        </p:nvCxnSpPr>
        <p:spPr>
          <a:xfrm>
            <a:off x="10394442" y="4956048"/>
            <a:ext cx="130302" cy="0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379" name="Phase 379"/>
          <p:cNvSpPr/>
          <p:nvPr/>
        </p:nvSpPr>
        <p:spPr>
          <a:xfrm>
            <a:off x="10543032" y="4407408"/>
            <a:ext cx="1280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82296" tIns="82296" rIns="54864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Arial"/>
                <a:cs typeface="Arial"/>
              </a:rPr>
              <a:t>PHASE 5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Multi-UAV / fleet monitoring</a:t>
            </a:r>
          </a:p>
        </p:txBody>
      </p:sp>
      <p:sp>
        <p:nvSpPr>
          <p:cNvPr id="380" name="Badge 380"/>
          <p:cNvSpPr/>
          <p:nvPr/>
        </p:nvSpPr>
        <p:spPr>
          <a:xfrm>
            <a:off x="11457432" y="5138928"/>
            <a:ext cx="292608" cy="29260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81" name="Icon 38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3269" y="5204765"/>
            <a:ext cx="160934" cy="160934"/>
          </a:xfrm>
          <a:prstGeom prst="rect">
            <a:avLst/>
          </a:prstGeom>
        </p:spPr>
      </p:pic>
      <p:sp>
        <p:nvSpPr>
          <p:cNvPr id="382" name="Closing 382"/>
          <p:cNvSpPr/>
          <p:nvPr/>
        </p:nvSpPr>
        <p:spPr>
          <a:xfrm>
            <a:off x="365760" y="5669280"/>
            <a:ext cx="11457432" cy="502920"/>
          </a:xfrm>
          <a:prstGeom prst="rect">
            <a:avLst/>
          </a:prstGeom>
          <a:solidFill>
            <a:srgbClr val="E6F0FA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Arial"/>
                <a:cs typeface="Arial"/>
              </a:rPr>
              <a:t>A modular architecture allows validation and calibration to progress step-by-step from software simulation to real engine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998" y="60000"/>
            <a:ext cx="10972800" cy="600000"/>
          </a:xfrm>
        </p:spPr>
        <p:txBody>
          <a:bodyPr anchor="ctr">
            <a:normAutofit/>
          </a:bodyPr>
          <a:lstStyle/>
          <a:p>
            <a:pPr algn="ctr"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Team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HYDROVEX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3" name="Subtitle 383"/>
          <p:cNvSpPr txBox="1"/>
          <p:nvPr/>
        </p:nvSpPr>
        <p:spPr>
          <a:xfrm>
            <a:off x="182880" y="6583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0C0"/>
                </a:solidFill>
                <a:latin typeface="Arial"/>
                <a:cs typeface="Arial"/>
              </a:rPr>
              <a:t>From Reactive Monitoring to Predictive Engine Health Management</a:t>
            </a:r>
          </a:p>
        </p:txBody>
      </p:sp>
      <p:sp>
        <p:nvSpPr>
          <p:cNvPr id="384" name="Header 384"/>
          <p:cNvSpPr/>
          <p:nvPr/>
        </p:nvSpPr>
        <p:spPr>
          <a:xfrm>
            <a:off x="365760" y="1170432"/>
            <a:ext cx="2743200" cy="256032"/>
          </a:xfrm>
          <a:prstGeom prst="rect">
            <a:avLst/>
          </a:prstGeom>
          <a:solidFill>
            <a:srgbClr val="5B667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THRESHOLD-BASED MONITORING</a:t>
            </a:r>
          </a:p>
        </p:txBody>
      </p:sp>
      <p:sp>
        <p:nvSpPr>
          <p:cNvPr id="385" name="Conv 385"/>
          <p:cNvSpPr/>
          <p:nvPr/>
        </p:nvSpPr>
        <p:spPr>
          <a:xfrm>
            <a:off x="640080" y="157276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B667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Arial"/>
                <a:cs typeface="Arial"/>
              </a:rPr>
              <a:t>Sensor value</a:t>
            </a:r>
          </a:p>
        </p:txBody>
      </p:sp>
      <p:cxnSp>
        <p:nvCxnSpPr>
          <p:cNvPr id="386" name="Arrow 386"/>
          <p:cNvCxnSpPr/>
          <p:nvPr/>
        </p:nvCxnSpPr>
        <p:spPr>
          <a:xfrm>
            <a:off x="1737360" y="1892808"/>
            <a:ext cx="0" cy="128016"/>
          </a:xfrm>
          <a:prstGeom prst="line">
            <a:avLst/>
          </a:prstGeom>
          <a:ln w="12700">
            <a:solidFill>
              <a:srgbClr val="5B6675"/>
            </a:solidFill>
            <a:tailEnd type="triangle" w="med" len="med"/>
          </a:ln>
        </p:spPr>
      </p:cxnSp>
      <p:sp>
        <p:nvSpPr>
          <p:cNvPr id="387" name="Conv 387"/>
          <p:cNvSpPr/>
          <p:nvPr/>
        </p:nvSpPr>
        <p:spPr>
          <a:xfrm>
            <a:off x="640080" y="202996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B667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Arial"/>
                <a:cs typeface="Arial"/>
              </a:rPr>
              <a:t>Fixed threshold</a:t>
            </a:r>
          </a:p>
        </p:txBody>
      </p:sp>
      <p:cxnSp>
        <p:nvCxnSpPr>
          <p:cNvPr id="388" name="Arrow 388"/>
          <p:cNvCxnSpPr/>
          <p:nvPr/>
        </p:nvCxnSpPr>
        <p:spPr>
          <a:xfrm>
            <a:off x="1737360" y="2350008"/>
            <a:ext cx="0" cy="128016"/>
          </a:xfrm>
          <a:prstGeom prst="line">
            <a:avLst/>
          </a:prstGeom>
          <a:ln w="12700">
            <a:solidFill>
              <a:srgbClr val="5B6675"/>
            </a:solidFill>
            <a:tailEnd type="triangle" w="med" len="med"/>
          </a:ln>
        </p:spPr>
      </p:cxnSp>
      <p:sp>
        <p:nvSpPr>
          <p:cNvPr id="389" name="Conv 389"/>
          <p:cNvSpPr/>
          <p:nvPr/>
        </p:nvSpPr>
        <p:spPr>
          <a:xfrm>
            <a:off x="640080" y="248716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B667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Arial"/>
                <a:cs typeface="Arial"/>
              </a:rPr>
              <a:t>Alarm</a:t>
            </a:r>
          </a:p>
        </p:txBody>
      </p:sp>
      <p:cxnSp>
        <p:nvCxnSpPr>
          <p:cNvPr id="390" name="Arrow 390"/>
          <p:cNvCxnSpPr/>
          <p:nvPr/>
        </p:nvCxnSpPr>
        <p:spPr>
          <a:xfrm>
            <a:off x="1737360" y="2807208"/>
            <a:ext cx="0" cy="128016"/>
          </a:xfrm>
          <a:prstGeom prst="line">
            <a:avLst/>
          </a:prstGeom>
          <a:ln w="12700">
            <a:solidFill>
              <a:srgbClr val="5B6675"/>
            </a:solidFill>
            <a:tailEnd type="triangle" w="med" len="med"/>
          </a:ln>
        </p:spPr>
      </p:cxnSp>
      <p:sp>
        <p:nvSpPr>
          <p:cNvPr id="391" name="Conv 391"/>
          <p:cNvSpPr/>
          <p:nvPr/>
        </p:nvSpPr>
        <p:spPr>
          <a:xfrm>
            <a:off x="640080" y="294436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B667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Arial"/>
                <a:cs typeface="Arial"/>
              </a:rPr>
              <a:t>Maintenance action</a:t>
            </a:r>
          </a:p>
        </p:txBody>
      </p:sp>
      <p:sp>
        <p:nvSpPr>
          <p:cNvPr id="392" name="Badge 392"/>
          <p:cNvSpPr/>
          <p:nvPr/>
        </p:nvSpPr>
        <p:spPr>
          <a:xfrm>
            <a:off x="365760" y="3511296"/>
            <a:ext cx="237744" cy="237744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393" name="Icon 3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52" y="3564788"/>
            <a:ext cx="130759" cy="130759"/>
          </a:xfrm>
          <a:prstGeom prst="rect">
            <a:avLst/>
          </a:prstGeom>
        </p:spPr>
      </p:pic>
      <p:sp>
        <p:nvSpPr>
          <p:cNvPr id="394" name="Label 394"/>
          <p:cNvSpPr txBox="1"/>
          <p:nvPr/>
        </p:nvSpPr>
        <p:spPr>
          <a:xfrm>
            <a:off x="667512" y="3520440"/>
            <a:ext cx="24414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C8641A"/>
                </a:solidFill>
                <a:latin typeface="Arial"/>
                <a:cs typeface="Arial"/>
              </a:rPr>
              <a:t>Limitations</a:t>
            </a:r>
          </a:p>
        </p:txBody>
      </p:sp>
      <p:sp>
        <p:nvSpPr>
          <p:cNvPr id="395" name="Limits 395"/>
          <p:cNvSpPr txBox="1"/>
          <p:nvPr/>
        </p:nvSpPr>
        <p:spPr>
          <a:xfrm>
            <a:off x="365760" y="37490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Detection after significant deviation</a:t>
            </a:r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Environmental effects complicate interpretation</a:t>
            </a:r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Limited degradation / RUL visibility</a:t>
            </a:r>
          </a:p>
        </p:txBody>
      </p:sp>
      <p:sp>
        <p:nvSpPr>
          <p:cNvPr id="396" name="Centre panel 396"/>
          <p:cNvSpPr/>
          <p:nvPr/>
        </p:nvSpPr>
        <p:spPr>
          <a:xfrm>
            <a:off x="3337560" y="1170432"/>
            <a:ext cx="4114800" cy="3675888"/>
          </a:xfrm>
          <a:prstGeom prst="rect">
            <a:avLst/>
          </a:prstGeom>
          <a:solidFill>
            <a:srgbClr val="E6F0FA"/>
          </a:solidFill>
          <a:ln w="1587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sp>
        <p:nvSpPr>
          <p:cNvPr id="397" name="Header 397"/>
          <p:cNvSpPr/>
          <p:nvPr/>
        </p:nvSpPr>
        <p:spPr>
          <a:xfrm>
            <a:off x="3447288" y="1280160"/>
            <a:ext cx="3895344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AEROTWIN</a:t>
            </a:r>
          </a:p>
        </p:txBody>
      </p:sp>
      <p:sp>
        <p:nvSpPr>
          <p:cNvPr id="398" name="Step 398"/>
          <p:cNvSpPr/>
          <p:nvPr/>
        </p:nvSpPr>
        <p:spPr>
          <a:xfrm>
            <a:off x="3749040" y="164592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Live telemetry</a:t>
            </a:r>
          </a:p>
        </p:txBody>
      </p:sp>
      <p:sp>
        <p:nvSpPr>
          <p:cNvPr id="399" name="Badge 399"/>
          <p:cNvSpPr/>
          <p:nvPr/>
        </p:nvSpPr>
        <p:spPr>
          <a:xfrm>
            <a:off x="3447288" y="16642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00" name="Icon 4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9010" y="1725930"/>
            <a:ext cx="150876" cy="150876"/>
          </a:xfrm>
          <a:prstGeom prst="rect">
            <a:avLst/>
          </a:prstGeom>
        </p:spPr>
      </p:pic>
      <p:cxnSp>
        <p:nvCxnSpPr>
          <p:cNvPr id="401" name="Arrow 401"/>
          <p:cNvCxnSpPr/>
          <p:nvPr/>
        </p:nvCxnSpPr>
        <p:spPr>
          <a:xfrm>
            <a:off x="5394960" y="1965960"/>
            <a:ext cx="0" cy="128016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402" name="Step 402"/>
          <p:cNvSpPr/>
          <p:nvPr/>
        </p:nvSpPr>
        <p:spPr>
          <a:xfrm>
            <a:off x="3749040" y="210312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Physics-based expected behaviour</a:t>
            </a:r>
          </a:p>
        </p:txBody>
      </p:sp>
      <p:sp>
        <p:nvSpPr>
          <p:cNvPr id="403" name="Badge 403"/>
          <p:cNvSpPr/>
          <p:nvPr/>
        </p:nvSpPr>
        <p:spPr>
          <a:xfrm>
            <a:off x="3447288" y="21214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04" name="Icon 4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010" y="2183130"/>
            <a:ext cx="150876" cy="150876"/>
          </a:xfrm>
          <a:prstGeom prst="rect">
            <a:avLst/>
          </a:prstGeom>
        </p:spPr>
      </p:pic>
      <p:cxnSp>
        <p:nvCxnSpPr>
          <p:cNvPr id="405" name="Arrow 405"/>
          <p:cNvCxnSpPr/>
          <p:nvPr/>
        </p:nvCxnSpPr>
        <p:spPr>
          <a:xfrm>
            <a:off x="5394960" y="2423160"/>
            <a:ext cx="0" cy="128016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406" name="Step 406"/>
          <p:cNvSpPr/>
          <p:nvPr/>
        </p:nvSpPr>
        <p:spPr>
          <a:xfrm>
            <a:off x="3749040" y="256032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Actual vs Expected</a:t>
            </a:r>
          </a:p>
        </p:txBody>
      </p:sp>
      <p:sp>
        <p:nvSpPr>
          <p:cNvPr id="407" name="Badge 407"/>
          <p:cNvSpPr/>
          <p:nvPr/>
        </p:nvSpPr>
        <p:spPr>
          <a:xfrm>
            <a:off x="3447288" y="25786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08" name="Icon 4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9010" y="2640330"/>
            <a:ext cx="150876" cy="150876"/>
          </a:xfrm>
          <a:prstGeom prst="rect">
            <a:avLst/>
          </a:prstGeom>
        </p:spPr>
      </p:pic>
      <p:cxnSp>
        <p:nvCxnSpPr>
          <p:cNvPr id="409" name="Arrow 409"/>
          <p:cNvCxnSpPr/>
          <p:nvPr/>
        </p:nvCxnSpPr>
        <p:spPr>
          <a:xfrm>
            <a:off x="5394960" y="2880360"/>
            <a:ext cx="0" cy="128016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410" name="Step 410"/>
          <p:cNvSpPr/>
          <p:nvPr/>
        </p:nvSpPr>
        <p:spPr>
          <a:xfrm>
            <a:off x="3749040" y="301752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Residual / deviation</a:t>
            </a:r>
          </a:p>
        </p:txBody>
      </p:sp>
      <p:sp>
        <p:nvSpPr>
          <p:cNvPr id="411" name="Badge 411"/>
          <p:cNvSpPr/>
          <p:nvPr/>
        </p:nvSpPr>
        <p:spPr>
          <a:xfrm>
            <a:off x="3447288" y="30358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12" name="Icon 4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9010" y="3097530"/>
            <a:ext cx="150876" cy="150876"/>
          </a:xfrm>
          <a:prstGeom prst="rect">
            <a:avLst/>
          </a:prstGeom>
        </p:spPr>
      </p:pic>
      <p:cxnSp>
        <p:nvCxnSpPr>
          <p:cNvPr id="413" name="Arrow 413"/>
          <p:cNvCxnSpPr/>
          <p:nvPr/>
        </p:nvCxnSpPr>
        <p:spPr>
          <a:xfrm>
            <a:off x="5394960" y="3337560"/>
            <a:ext cx="0" cy="128016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414" name="Step 414"/>
          <p:cNvSpPr/>
          <p:nvPr/>
        </p:nvSpPr>
        <p:spPr>
          <a:xfrm>
            <a:off x="3749040" y="347472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AI fault diagnosis</a:t>
            </a:r>
          </a:p>
        </p:txBody>
      </p:sp>
      <p:sp>
        <p:nvSpPr>
          <p:cNvPr id="415" name="Badge 415"/>
          <p:cNvSpPr/>
          <p:nvPr/>
        </p:nvSpPr>
        <p:spPr>
          <a:xfrm>
            <a:off x="3447288" y="34930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16" name="Icon 4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9010" y="3554730"/>
            <a:ext cx="150876" cy="150876"/>
          </a:xfrm>
          <a:prstGeom prst="rect">
            <a:avLst/>
          </a:prstGeom>
        </p:spPr>
      </p:pic>
      <p:cxnSp>
        <p:nvCxnSpPr>
          <p:cNvPr id="417" name="Arrow 417"/>
          <p:cNvCxnSpPr/>
          <p:nvPr/>
        </p:nvCxnSpPr>
        <p:spPr>
          <a:xfrm>
            <a:off x="5394960" y="3794760"/>
            <a:ext cx="0" cy="128016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418" name="Step 418"/>
          <p:cNvSpPr/>
          <p:nvPr/>
        </p:nvSpPr>
        <p:spPr>
          <a:xfrm>
            <a:off x="3749040" y="393192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Degradation trend + RUL</a:t>
            </a:r>
          </a:p>
        </p:txBody>
      </p:sp>
      <p:sp>
        <p:nvSpPr>
          <p:cNvPr id="419" name="Badge 419"/>
          <p:cNvSpPr/>
          <p:nvPr/>
        </p:nvSpPr>
        <p:spPr>
          <a:xfrm>
            <a:off x="3447288" y="39502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20" name="Icon 4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9010" y="4011930"/>
            <a:ext cx="150876" cy="150876"/>
          </a:xfrm>
          <a:prstGeom prst="rect">
            <a:avLst/>
          </a:prstGeom>
        </p:spPr>
      </p:pic>
      <p:cxnSp>
        <p:nvCxnSpPr>
          <p:cNvPr id="421" name="Arrow 421"/>
          <p:cNvCxnSpPr/>
          <p:nvPr/>
        </p:nvCxnSpPr>
        <p:spPr>
          <a:xfrm>
            <a:off x="5394960" y="4251960"/>
            <a:ext cx="0" cy="128016"/>
          </a:xfrm>
          <a:prstGeom prst="line">
            <a:avLst/>
          </a:prstGeom>
          <a:ln w="12700">
            <a:solidFill>
              <a:srgbClr val="0B2545"/>
            </a:solidFill>
            <a:tailEnd type="triangle" w="med" len="med"/>
          </a:ln>
        </p:spPr>
      </p:cxnSp>
      <p:sp>
        <p:nvSpPr>
          <p:cNvPr id="422" name="Step 422"/>
          <p:cNvSpPr/>
          <p:nvPr/>
        </p:nvSpPr>
        <p:spPr>
          <a:xfrm>
            <a:off x="3749040" y="4389120"/>
            <a:ext cx="3291840" cy="310896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Maintenance / mission decision</a:t>
            </a:r>
          </a:p>
        </p:txBody>
      </p:sp>
      <p:sp>
        <p:nvSpPr>
          <p:cNvPr id="423" name="Badge 423"/>
          <p:cNvSpPr/>
          <p:nvPr/>
        </p:nvSpPr>
        <p:spPr>
          <a:xfrm>
            <a:off x="3447288" y="44074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24" name="Icon 4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9010" y="4469130"/>
            <a:ext cx="150876" cy="150876"/>
          </a:xfrm>
          <a:prstGeom prst="rect">
            <a:avLst/>
          </a:prstGeom>
        </p:spPr>
      </p:pic>
      <p:sp>
        <p:nvSpPr>
          <p:cNvPr id="425" name="Stakeholder 425"/>
          <p:cNvSpPr/>
          <p:nvPr/>
        </p:nvSpPr>
        <p:spPr>
          <a:xfrm>
            <a:off x="7635240" y="1170432"/>
            <a:ext cx="418795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45720" rIns="54864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UAV OPERATORS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Real-time engine health visibility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Better mission planning with engine condition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Earlier awareness of abnormal behaviour</a:t>
            </a:r>
          </a:p>
        </p:txBody>
      </p:sp>
      <p:sp>
        <p:nvSpPr>
          <p:cNvPr id="426" name="Badge 426"/>
          <p:cNvSpPr/>
          <p:nvPr/>
        </p:nvSpPr>
        <p:spPr>
          <a:xfrm>
            <a:off x="11292840" y="1380744"/>
            <a:ext cx="438912" cy="438912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27" name="Icon 4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02568" y="1490472"/>
            <a:ext cx="219456" cy="219456"/>
          </a:xfrm>
          <a:prstGeom prst="rect">
            <a:avLst/>
          </a:prstGeom>
        </p:spPr>
      </p:pic>
      <p:sp>
        <p:nvSpPr>
          <p:cNvPr id="428" name="Stakeholder 428"/>
          <p:cNvSpPr/>
          <p:nvPr/>
        </p:nvSpPr>
        <p:spPr>
          <a:xfrm>
            <a:off x="7635240" y="2103120"/>
            <a:ext cx="418795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45720" rIns="54864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MAINTENANCE TEAMS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Fault evidence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Degradation trend visibility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Condition-based servicing support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RUL-based planning</a:t>
            </a:r>
          </a:p>
        </p:txBody>
      </p:sp>
      <p:sp>
        <p:nvSpPr>
          <p:cNvPr id="429" name="Badge 429"/>
          <p:cNvSpPr/>
          <p:nvPr/>
        </p:nvSpPr>
        <p:spPr>
          <a:xfrm>
            <a:off x="11292840" y="2313432"/>
            <a:ext cx="438912" cy="438912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30" name="Icon 4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02568" y="2423160"/>
            <a:ext cx="219456" cy="219456"/>
          </a:xfrm>
          <a:prstGeom prst="rect">
            <a:avLst/>
          </a:prstGeom>
        </p:spPr>
      </p:pic>
      <p:sp>
        <p:nvSpPr>
          <p:cNvPr id="431" name="Stakeholder 431"/>
          <p:cNvSpPr/>
          <p:nvPr/>
        </p:nvSpPr>
        <p:spPr>
          <a:xfrm>
            <a:off x="7635240" y="3035808"/>
            <a:ext cx="418795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45720" rIns="54864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ENGINEERING / TESTING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Actual vs expected behaviour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Mission replay and what-if analysis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Support for engine testing and model calibration</a:t>
            </a:r>
          </a:p>
        </p:txBody>
      </p:sp>
      <p:sp>
        <p:nvSpPr>
          <p:cNvPr id="432" name="Badge 432"/>
          <p:cNvSpPr/>
          <p:nvPr/>
        </p:nvSpPr>
        <p:spPr>
          <a:xfrm>
            <a:off x="11292840" y="3246120"/>
            <a:ext cx="438912" cy="438912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33" name="Icon 4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02568" y="3355848"/>
            <a:ext cx="219456" cy="219456"/>
          </a:xfrm>
          <a:prstGeom prst="rect">
            <a:avLst/>
          </a:prstGeom>
        </p:spPr>
      </p:pic>
      <p:sp>
        <p:nvSpPr>
          <p:cNvPr id="434" name="Stakeholder 434"/>
          <p:cNvSpPr/>
          <p:nvPr/>
        </p:nvSpPr>
        <p:spPr>
          <a:xfrm>
            <a:off x="7635240" y="3968496"/>
            <a:ext cx="418795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45720" rIns="548640" bIns="2743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B2545"/>
                </a:solidFill>
                <a:latin typeface="Arial"/>
                <a:cs typeface="Arial"/>
              </a:rPr>
              <a:t>DEFENCE / SYSTEM LEVEL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Modular propulsion-health architecture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Expansion path toward broader UAV telemetry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Multi-UAV monitoring potential</a:t>
            </a:r>
          </a:p>
        </p:txBody>
      </p:sp>
      <p:sp>
        <p:nvSpPr>
          <p:cNvPr id="435" name="Badge 435"/>
          <p:cNvSpPr/>
          <p:nvPr/>
        </p:nvSpPr>
        <p:spPr>
          <a:xfrm>
            <a:off x="11292840" y="4178808"/>
            <a:ext cx="438912" cy="438912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36" name="Icon 4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02568" y="4288536"/>
            <a:ext cx="219456" cy="219456"/>
          </a:xfrm>
          <a:prstGeom prst="rect">
            <a:avLst/>
          </a:prstGeom>
        </p:spPr>
      </p:pic>
      <p:sp>
        <p:nvSpPr>
          <p:cNvPr id="437" name="Metric 437"/>
          <p:cNvSpPr/>
          <p:nvPr/>
        </p:nvSpPr>
        <p:spPr>
          <a:xfrm>
            <a:off x="365760" y="498348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27432" rIns="36576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  <a:defRPr sz="2000" b="1"/>
            </a:pPr>
            <a:r>
              <a:t>99.84%</a:t>
            </a:r>
          </a:p>
          <a:p>
            <a:pPr>
              <a:defRPr sz="900"/>
            </a:pPr>
            <a:r>
              <a:t>Holdout Classification Accuracy</a:t>
            </a:r>
          </a:p>
        </p:txBody>
      </p:sp>
      <p:sp>
        <p:nvSpPr>
          <p:cNvPr id="438" name="Metric 438"/>
          <p:cNvSpPr/>
          <p:nvPr/>
        </p:nvSpPr>
        <p:spPr>
          <a:xfrm>
            <a:off x="2194560" y="498348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27432" rIns="36576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  <a:defRPr sz="2000" b="1"/>
            </a:pPr>
            <a:r>
              <a:t>100.0%</a:t>
            </a:r>
          </a:p>
          <a:p>
            <a:pPr>
              <a:defRPr sz="900"/>
            </a:pPr>
            <a:r>
              <a:t>CAN Classification Agreement</a:t>
            </a:r>
          </a:p>
        </p:txBody>
      </p:sp>
      <p:sp>
        <p:nvSpPr>
          <p:cNvPr id="439" name="Metric 439"/>
          <p:cNvSpPr/>
          <p:nvPr/>
        </p:nvSpPr>
        <p:spPr>
          <a:xfrm>
            <a:off x="4023360" y="498348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27432" rIns="36576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  <a:defRPr sz="2000" b="1"/>
            </a:pPr>
            <a:r>
              <a:t>0.0 / hr</a:t>
            </a:r>
          </a:p>
          <a:p>
            <a:pPr>
              <a:defRPr sz="900"/>
            </a:pPr>
            <a:r>
              <a:t>Healthy False Alarm Rate</a:t>
            </a:r>
          </a:p>
        </p:txBody>
      </p:sp>
      <p:sp>
        <p:nvSpPr>
          <p:cNvPr id="440" name="Metric 440"/>
          <p:cNvSpPr/>
          <p:nvPr/>
        </p:nvSpPr>
        <p:spPr>
          <a:xfrm>
            <a:off x="5852160" y="498348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36576" tIns="27432" rIns="36576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  <a:defRPr sz="2000" b="1"/>
            </a:pPr>
            <a:r>
              <a:t>0.91 min</a:t>
            </a:r>
          </a:p>
          <a:p>
            <a:pPr>
              <a:defRPr sz="900"/>
            </a:pPr>
            <a:r>
              <a:t>Mean Absolute RUL Error</a:t>
            </a:r>
          </a:p>
        </p:txBody>
      </p:sp>
      <p:sp>
        <p:nvSpPr>
          <p:cNvPr id="442" name="Footer note 442"/>
          <p:cNvSpPr/>
          <p:nvPr/>
        </p:nvSpPr>
        <p:spPr>
          <a:xfrm>
            <a:off x="365760" y="5943600"/>
            <a:ext cx="11457432" cy="310896"/>
          </a:xfrm>
          <a:prstGeom prst="rect">
            <a:avLst/>
          </a:prstGeom>
          <a:solidFill>
            <a:srgbClr val="FFF6EE"/>
          </a:solidFill>
          <a:ln w="9525">
            <a:solidFill>
              <a:srgbClr val="C8641A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C8641A"/>
                </a:solidFill>
                <a:latin typeface="Arial"/>
                <a:cs typeface="Arial"/>
              </a:rPr>
              <a:t>These are prototype software/simulation validation results, not flight-test or certification results.</a:t>
            </a:r>
          </a:p>
        </p:txBody>
      </p:sp>
      <p:pic>
        <p:nvPicPr>
          <p:cNvPr id="17410" name="Picture 17409" descr="ground_control_station_179074928607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0" y="4983480"/>
            <a:ext cx="4050792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998" y="60000"/>
            <a:ext cx="10972800" cy="600000"/>
          </a:xfrm>
        </p:spPr>
        <p:txBody>
          <a:bodyPr anchor="ctr">
            <a:normAutofit/>
          </a:bodyPr>
          <a:lstStyle/>
          <a:p>
            <a:pPr algn="ctr"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RESEARCH, REFERENCES &amp; NEXT STEPS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Team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HYDROVEX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43" name="Subtitle 443"/>
          <p:cNvSpPr txBox="1"/>
          <p:nvPr/>
        </p:nvSpPr>
        <p:spPr>
          <a:xfrm>
            <a:off x="182880" y="6583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0C0"/>
                </a:solidFill>
                <a:latin typeface="Arial"/>
                <a:cs typeface="Arial"/>
              </a:rPr>
              <a:t>Technical Foundations, Data Sources and Validation Roadmap</a:t>
            </a:r>
          </a:p>
        </p:txBody>
      </p:sp>
      <p:sp>
        <p:nvSpPr>
          <p:cNvPr id="444" name="Badge 444"/>
          <p:cNvSpPr/>
          <p:nvPr/>
        </p:nvSpPr>
        <p:spPr>
          <a:xfrm>
            <a:off x="365760" y="1152144"/>
            <a:ext cx="237744" cy="237744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45" name="Icon 4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52" y="1205636"/>
            <a:ext cx="130759" cy="130759"/>
          </a:xfrm>
          <a:prstGeom prst="rect">
            <a:avLst/>
          </a:prstGeom>
        </p:spPr>
      </p:pic>
      <p:sp>
        <p:nvSpPr>
          <p:cNvPr id="446" name="Label 446"/>
          <p:cNvSpPr txBox="1"/>
          <p:nvPr/>
        </p:nvSpPr>
        <p:spPr>
          <a:xfrm>
            <a:off x="667512" y="114300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Arial"/>
                <a:cs typeface="Arial"/>
              </a:rPr>
              <a:t>A. CORE REFERENCES  &amp;  B. HOW THEY ARE USED</a:t>
            </a:r>
          </a:p>
        </p:txBody>
      </p:sp>
      <p:graphicFrame>
        <p:nvGraphicFramePr>
          <p:cNvPr id="447" name="Table 447"/>
          <p:cNvGraphicFramePr>
            <a:graphicFrameLocks noGrp="1"/>
          </p:cNvGraphicFramePr>
          <p:nvPr/>
        </p:nvGraphicFramePr>
        <p:xfrm>
          <a:off x="365760" y="1417320"/>
          <a:ext cx="5943600" cy="3273552"/>
        </p:xfrm>
        <a:graphic>
          <a:graphicData uri="http://schemas.openxmlformats.org/drawingml/2006/table">
            <a:tbl>
              <a:tblPr first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Reference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 for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Feeds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Arial"/>
                          <a:cs typeface="Arial"/>
                        </a:rPr>
                        <a:t>Rotax 912 Series Technical Documentation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Engine architecture, operating parameters, power / RPM points, operating limits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Physics model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Arial"/>
                          <a:cs typeface="Arial"/>
                        </a:rPr>
                        <a:t>International Standard Atmosphere (ISA)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Altitude, temperature, pressure, air-density modelling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Environment model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Arial"/>
                          <a:cs typeface="Arial"/>
                        </a:rPr>
                        <a:t>Digital Twin for Aerospace and Propulsion Systems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Digital Twin concepts, physics-informed modelling, aerospace health monitoring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Expected healthy behaviour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Isolation Forest &amp; Random Forest (Liu 2008, Breiman 2001)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Unsupervised anomaly detection &amp; 10-class fault classification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Diagnostic pipeline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Arial"/>
                          <a:cs typeface="Arial"/>
                        </a:rPr>
                        <a:t>CAN 2.0 Specification; python-can Documentation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CAN frame structure, telemetry transport, Python CAN interface, decoder / validation path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Telemetry transport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Arial"/>
                          <a:cs typeface="Arial"/>
                        </a:rPr>
                        <a:t>RTCA DO-178C — Reference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Aerospace software-development considerations, reliability-oriented practices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/>
                          <a:cs typeface="Arial"/>
                        </a:rPr>
                        <a:t>Deployment / reliability practices</a:t>
                      </a:r>
                    </a:p>
                  </a:txBody>
                  <a:tcPr marL="64008" marR="45720" marT="27432" marB="27432" anchor="ctr">
                    <a:lnL w="6350">
                      <a:solidFill>
                        <a:srgbClr val="B8C2CE"/>
                      </a:solidFill>
                    </a:lnL>
                    <a:lnR w="6350">
                      <a:solidFill>
                        <a:srgbClr val="B8C2CE"/>
                      </a:solidFill>
                    </a:lnR>
                    <a:lnT w="6350">
                      <a:solidFill>
                        <a:srgbClr val="B8C2CE"/>
                      </a:solidFill>
                    </a:lnT>
                    <a:lnB w="6350">
                      <a:solidFill>
                        <a:srgbClr val="B8C2CE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9" name="Label 449"/>
          <p:cNvSpPr txBox="1"/>
          <p:nvPr/>
        </p:nvSpPr>
        <p:spPr>
          <a:xfrm>
            <a:off x="548640" y="5888736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/>
                <a:cs typeface="Arial"/>
              </a:rPr>
              <a:t>Technical Demo QR</a:t>
            </a:r>
          </a:p>
        </p:txBody>
      </p:sp>
      <p:sp>
        <p:nvSpPr>
          <p:cNvPr id="451" name="Label 451"/>
          <p:cNvSpPr txBox="1"/>
          <p:nvPr/>
        </p:nvSpPr>
        <p:spPr>
          <a:xfrm>
            <a:off x="3429000" y="5888736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/>
                <a:cs typeface="Arial"/>
              </a:rPr>
              <a:t>Project Documentation QR</a:t>
            </a:r>
          </a:p>
        </p:txBody>
      </p:sp>
      <p:sp>
        <p:nvSpPr>
          <p:cNvPr id="452" name="Badge 452"/>
          <p:cNvSpPr/>
          <p:nvPr/>
        </p:nvSpPr>
        <p:spPr>
          <a:xfrm>
            <a:off x="6583680" y="1152144"/>
            <a:ext cx="237744" cy="237744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53" name="Icon 4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172" y="1205636"/>
            <a:ext cx="130759" cy="130759"/>
          </a:xfrm>
          <a:prstGeom prst="rect">
            <a:avLst/>
          </a:prstGeom>
        </p:spPr>
      </p:pic>
      <p:sp>
        <p:nvSpPr>
          <p:cNvPr id="454" name="Label 454"/>
          <p:cNvSpPr txBox="1"/>
          <p:nvPr/>
        </p:nvSpPr>
        <p:spPr>
          <a:xfrm>
            <a:off x="6885432" y="114300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B2545"/>
                </a:solidFill>
                <a:latin typeface="Arial"/>
                <a:cs typeface="Arial"/>
              </a:rPr>
              <a:t>C. FUTURE WORK ROADMAP</a:t>
            </a:r>
          </a:p>
        </p:txBody>
      </p:sp>
      <p:sp>
        <p:nvSpPr>
          <p:cNvPr id="455" name="Phase 455"/>
          <p:cNvSpPr/>
          <p:nvPr/>
        </p:nvSpPr>
        <p:spPr>
          <a:xfrm>
            <a:off x="6583680" y="1417320"/>
            <a:ext cx="1417320" cy="475488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64008" tIns="27432" rIns="36576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PHASE 1 — CURRENT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Software prototype</a:t>
            </a:r>
          </a:p>
        </p:txBody>
      </p:sp>
      <p:sp>
        <p:nvSpPr>
          <p:cNvPr id="456" name="Phase detail 456"/>
          <p:cNvSpPr/>
          <p:nvPr/>
        </p:nvSpPr>
        <p:spPr>
          <a:xfrm>
            <a:off x="8001000" y="1417320"/>
            <a:ext cx="382219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</p:spPr>
        <p:txBody>
          <a:bodyPr wrap="square" lIns="91440" tIns="27432" rIns="54864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Physics model • Virtual ECU + CAN • AI pipeline • Dashboard • Simulation • Automated validation</a:t>
            </a:r>
          </a:p>
        </p:txBody>
      </p:sp>
      <p:sp>
        <p:nvSpPr>
          <p:cNvPr id="457" name="Phase 457"/>
          <p:cNvSpPr/>
          <p:nvPr/>
        </p:nvSpPr>
        <p:spPr>
          <a:xfrm>
            <a:off x="6583680" y="196596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64008" tIns="27432" rIns="36576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0070C0"/>
                </a:solidFill>
                <a:latin typeface="Arial"/>
                <a:cs typeface="Arial"/>
              </a:rPr>
              <a:t>PHASE 2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Engine test-rig integration</a:t>
            </a:r>
          </a:p>
        </p:txBody>
      </p:sp>
      <p:sp>
        <p:nvSpPr>
          <p:cNvPr id="458" name="Phase detail 458"/>
          <p:cNvSpPr/>
          <p:nvPr/>
        </p:nvSpPr>
        <p:spPr>
          <a:xfrm>
            <a:off x="8001000" y="1965960"/>
            <a:ext cx="382219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</p:spPr>
        <p:txBody>
          <a:bodyPr wrap="square" lIns="91440" tIns="27432" rIns="54864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Collect real telemetry • Controlled degradation tests • Model calibration</a:t>
            </a:r>
          </a:p>
        </p:txBody>
      </p:sp>
      <p:sp>
        <p:nvSpPr>
          <p:cNvPr id="459" name="Phase 459"/>
          <p:cNvSpPr/>
          <p:nvPr/>
        </p:nvSpPr>
        <p:spPr>
          <a:xfrm>
            <a:off x="6583680" y="251460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64008" tIns="27432" rIns="36576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0070C0"/>
                </a:solidFill>
                <a:latin typeface="Arial"/>
                <a:cs typeface="Arial"/>
              </a:rPr>
              <a:t>PHASE 3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Real ECU / CAN HIL</a:t>
            </a:r>
          </a:p>
        </p:txBody>
      </p:sp>
      <p:sp>
        <p:nvSpPr>
          <p:cNvPr id="460" name="Phase detail 460"/>
          <p:cNvSpPr/>
          <p:nvPr/>
        </p:nvSpPr>
        <p:spPr>
          <a:xfrm>
            <a:off x="8001000" y="2514600"/>
            <a:ext cx="382219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</p:spPr>
        <p:txBody>
          <a:bodyPr wrap="square" lIns="91440" tIns="27432" rIns="54864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Hardware integration • Real engine telemetry • Expanded fault data</a:t>
            </a:r>
          </a:p>
        </p:txBody>
      </p:sp>
      <p:sp>
        <p:nvSpPr>
          <p:cNvPr id="461" name="Phase 461"/>
          <p:cNvSpPr/>
          <p:nvPr/>
        </p:nvSpPr>
        <p:spPr>
          <a:xfrm>
            <a:off x="6583680" y="306324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64008" tIns="27432" rIns="36576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0070C0"/>
                </a:solidFill>
                <a:latin typeface="Arial"/>
                <a:cs typeface="Arial"/>
              </a:rPr>
              <a:t>PHASE 4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UAV edge / GCS</a:t>
            </a:r>
          </a:p>
        </p:txBody>
      </p:sp>
      <p:sp>
        <p:nvSpPr>
          <p:cNvPr id="462" name="Phase detail 462"/>
          <p:cNvSpPr/>
          <p:nvPr/>
        </p:nvSpPr>
        <p:spPr>
          <a:xfrm>
            <a:off x="8001000" y="3063240"/>
            <a:ext cx="382219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</p:spPr>
        <p:txBody>
          <a:bodyPr wrap="square" lIns="91440" tIns="27432" rIns="54864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Edge inference • GCS integration • Operational-environment testing</a:t>
            </a:r>
          </a:p>
        </p:txBody>
      </p:sp>
      <p:sp>
        <p:nvSpPr>
          <p:cNvPr id="463" name="Phase 463"/>
          <p:cNvSpPr/>
          <p:nvPr/>
        </p:nvSpPr>
        <p:spPr>
          <a:xfrm>
            <a:off x="6583680" y="361188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64008" tIns="27432" rIns="36576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0070C0"/>
                </a:solidFill>
                <a:latin typeface="Arial"/>
                <a:cs typeface="Arial"/>
              </a:rPr>
              <a:t>PHASE 5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/>
                <a:cs typeface="Arial"/>
              </a:rPr>
              <a:t>Multi-UAV / Fleet</a:t>
            </a:r>
          </a:p>
        </p:txBody>
      </p:sp>
      <p:sp>
        <p:nvSpPr>
          <p:cNvPr id="464" name="Phase detail 464"/>
          <p:cNvSpPr/>
          <p:nvPr/>
        </p:nvSpPr>
        <p:spPr>
          <a:xfrm>
            <a:off x="8001000" y="3611880"/>
            <a:ext cx="382219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8C2CE"/>
            </a:solidFill>
          </a:ln>
        </p:spPr>
        <p:txBody>
          <a:bodyPr wrap="square" lIns="91440" tIns="27432" rIns="54864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F2A44"/>
                </a:solidFill>
                <a:latin typeface="Arial"/>
                <a:cs typeface="Arial"/>
              </a:rPr>
              <a:t>Multiple platforms • Fleet-level analytics • Broader UAV health monitoring</a:t>
            </a:r>
          </a:p>
        </p:txBody>
      </p:sp>
      <p:sp>
        <p:nvSpPr>
          <p:cNvPr id="465" name="Milestone box 465"/>
          <p:cNvSpPr/>
          <p:nvPr/>
        </p:nvSpPr>
        <p:spPr>
          <a:xfrm>
            <a:off x="6583680" y="4251960"/>
            <a:ext cx="5239512" cy="2011680"/>
          </a:xfrm>
          <a:prstGeom prst="rect">
            <a:avLst/>
          </a:prstGeom>
          <a:solidFill>
            <a:srgbClr val="E6F0FA"/>
          </a:solidFill>
          <a:ln w="19050">
            <a:solidFill>
              <a:srgbClr val="0070C0"/>
            </a:solidFill>
          </a:ln>
          <a:effectLst>
            <a:outerShdw blurRad="38100" dist="1905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sp>
        <p:nvSpPr>
          <p:cNvPr id="466" name="Header 466"/>
          <p:cNvSpPr/>
          <p:nvPr/>
        </p:nvSpPr>
        <p:spPr>
          <a:xfrm>
            <a:off x="6675120" y="4343400"/>
            <a:ext cx="5056632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91440" tIns="18288" rIns="7315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D. NEXT TECHNICAL MILESTONE</a:t>
            </a:r>
          </a:p>
        </p:txBody>
      </p:sp>
      <p:sp>
        <p:nvSpPr>
          <p:cNvPr id="467" name="Badge 467"/>
          <p:cNvSpPr/>
          <p:nvPr/>
        </p:nvSpPr>
        <p:spPr>
          <a:xfrm>
            <a:off x="11420856" y="436168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45720" rIns="73152" bIns="45720" anchor="t">
            <a:noAutofit/>
          </a:bodyPr>
          <a:lstStyle/>
          <a:p>
            <a:endParaRPr lang="en-US" sz="1000"/>
          </a:p>
        </p:txBody>
      </p:sp>
      <p:pic>
        <p:nvPicPr>
          <p:cNvPr id="468" name="Icon 4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4747" y="4405579"/>
            <a:ext cx="131674" cy="131674"/>
          </a:xfrm>
          <a:prstGeom prst="rect">
            <a:avLst/>
          </a:prstGeom>
        </p:spPr>
      </p:pic>
      <p:sp>
        <p:nvSpPr>
          <p:cNvPr id="469" name="Label 469"/>
          <p:cNvSpPr txBox="1"/>
          <p:nvPr/>
        </p:nvSpPr>
        <p:spPr>
          <a:xfrm>
            <a:off x="6720840" y="4654296"/>
            <a:ext cx="496519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Arial"/>
                <a:cs typeface="Arial"/>
              </a:rPr>
              <a:t>Validate and calibrate the Digital Twin and AI/RUL pipeline using real engine test-rig telemetry.</a:t>
            </a:r>
          </a:p>
        </p:txBody>
      </p:sp>
      <p:sp>
        <p:nvSpPr>
          <p:cNvPr id="470" name="Label 470"/>
          <p:cNvSpPr txBox="1"/>
          <p:nvPr/>
        </p:nvSpPr>
        <p:spPr>
          <a:xfrm>
            <a:off x="6720840" y="5184648"/>
            <a:ext cx="49651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0070C0"/>
                </a:solidFill>
                <a:latin typeface="Arial"/>
                <a:cs typeface="Arial"/>
              </a:rPr>
              <a:t>Approval / guidance requested on</a:t>
            </a:r>
          </a:p>
        </p:txBody>
      </p:sp>
      <p:sp>
        <p:nvSpPr>
          <p:cNvPr id="471" name="Approvals 471"/>
          <p:cNvSpPr txBox="1"/>
          <p:nvPr/>
        </p:nvSpPr>
        <p:spPr>
          <a:xfrm>
            <a:off x="6720840" y="5404104"/>
            <a:ext cx="49651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Propulsion-focused scope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Current Digital Twin + CAN + AI architecture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Test-rig data collection plan</a:t>
            </a:r>
          </a:p>
          <a:p>
            <a:pPr marL="150000" indent="-150000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950" dirty="0">
                <a:solidFill>
                  <a:srgbClr val="1F2A44"/>
                </a:solidFill>
                <a:latin typeface="Arial"/>
                <a:cs typeface="Arial"/>
              </a:rPr>
              <a:t>Additional engine parameters to prioritize</a:t>
            </a:r>
          </a:p>
        </p:txBody>
      </p:sp>
      <p:pic>
        <p:nvPicPr>
          <p:cNvPr id="17410" name="Picture 17409" descr="demo_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46320"/>
            <a:ext cx="1097280" cy="1005840"/>
          </a:xfrm>
          <a:prstGeom prst="rect">
            <a:avLst/>
          </a:prstGeom>
        </p:spPr>
      </p:pic>
      <p:pic>
        <p:nvPicPr>
          <p:cNvPr id="17411" name="Picture 17410" descr="docs_q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4846320"/>
            <a:ext cx="109728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1244</Words>
  <Application>Microsoft Office PowerPoint</Application>
  <PresentationFormat>Widescreen</PresentationFormat>
  <Paragraphs>289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PROPOSED SOLUTION</vt:lpstr>
      <vt:lpstr>TECHNICAL APPROACH</vt:lpstr>
      <vt:lpstr>FEASIBILITY &amp; VIABILITY</vt:lpstr>
      <vt:lpstr>IMPACT &amp; BENEFITS</vt:lpstr>
      <vt:lpstr>RESEARCH, REFERENCES &amp; NEXT STEPS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Nagappan S</cp:lastModifiedBy>
  <cp:revision>150</cp:revision>
  <dcterms:created xsi:type="dcterms:W3CDTF">2013-12-12T18:46:50Z</dcterms:created>
  <dcterms:modified xsi:type="dcterms:W3CDTF">2026-09-30T06:40:44Z</dcterms:modified>
  <cp:category/>
</cp:coreProperties>
</file>